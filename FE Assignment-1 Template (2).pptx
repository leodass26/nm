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Lst>
  <p:sldSz cx="7569200" cy="10693400"/>
  <p:notesSz cx="7569200" cy="10693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94660"/>
  </p:normalViewPr>
  <p:slideViewPr>
    <p:cSldViewPr>
      <p:cViewPr>
        <p:scale>
          <a:sx n="100" d="100"/>
          <a:sy n="100" d="100"/>
        </p:scale>
        <p:origin x="1632" y="-110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67690" y="3314954"/>
            <a:ext cx="6433820" cy="2245614"/>
          </a:xfrm>
          <a:prstGeom prst="rect">
            <a:avLst/>
          </a:prstGeom>
        </p:spPr>
        <p:txBody>
          <a:bodyPr wrap="square" lIns="0" tIns="0" rIns="0" bIns="0">
            <a:spAutoFit/>
          </a:bodyPr>
          <a:lstStyle>
            <a:lvl1pPr>
              <a:defRPr sz="2300" b="1"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135380" y="5988304"/>
            <a:ext cx="5298440" cy="2673350"/>
          </a:xfrm>
          <a:prstGeom prst="rect">
            <a:avLst/>
          </a:prstGeom>
        </p:spPr>
        <p:txBody>
          <a:bodyPr wrap="square" lIns="0" tIns="0" rIns="0" bIns="0">
            <a:spAutoFit/>
          </a:bodyPr>
          <a:lstStyle>
            <a:lvl1pPr>
              <a:defRPr sz="17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3/9/2026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660400" y="5591835"/>
            <a:ext cx="6502400" cy="0"/>
          </a:xfrm>
          <a:custGeom>
            <a:avLst/>
            <a:gdLst/>
            <a:ahLst/>
            <a:cxnLst/>
            <a:rect l="l" t="t" r="r" b="b"/>
            <a:pathLst>
              <a:path w="6502400">
                <a:moveTo>
                  <a:pt x="0" y="0"/>
                </a:moveTo>
                <a:lnTo>
                  <a:pt x="6502400" y="0"/>
                </a:lnTo>
              </a:path>
            </a:pathLst>
          </a:custGeom>
          <a:ln w="12698">
            <a:solidFill>
              <a:srgbClr val="868686"/>
            </a:solidFill>
          </a:ln>
        </p:spPr>
        <p:txBody>
          <a:bodyPr wrap="square" lIns="0" tIns="0" rIns="0" bIns="0" rtlCol="0"/>
          <a:lstStyle/>
          <a:p>
            <a:endParaRPr/>
          </a:p>
        </p:txBody>
      </p:sp>
      <p:sp>
        <p:nvSpPr>
          <p:cNvPr id="17" name="bg object 17"/>
          <p:cNvSpPr/>
          <p:nvPr/>
        </p:nvSpPr>
        <p:spPr>
          <a:xfrm>
            <a:off x="660400" y="9573412"/>
            <a:ext cx="6502400" cy="0"/>
          </a:xfrm>
          <a:custGeom>
            <a:avLst/>
            <a:gdLst/>
            <a:ahLst/>
            <a:cxnLst/>
            <a:rect l="l" t="t" r="r" b="b"/>
            <a:pathLst>
              <a:path w="6502400">
                <a:moveTo>
                  <a:pt x="0" y="0"/>
                </a:moveTo>
                <a:lnTo>
                  <a:pt x="6502400" y="0"/>
                </a:lnTo>
              </a:path>
            </a:pathLst>
          </a:custGeom>
          <a:ln w="12698">
            <a:solidFill>
              <a:srgbClr val="868686"/>
            </a:solidFill>
          </a:ln>
        </p:spPr>
        <p:txBody>
          <a:bodyPr wrap="square" lIns="0" tIns="0" rIns="0" bIns="0" rtlCol="0"/>
          <a:lstStyle/>
          <a:p>
            <a:endParaRPr/>
          </a:p>
        </p:txBody>
      </p:sp>
      <p:pic>
        <p:nvPicPr>
          <p:cNvPr id="18" name="bg object 18"/>
          <p:cNvPicPr/>
          <p:nvPr/>
        </p:nvPicPr>
        <p:blipFill>
          <a:blip r:embed="rId2" cstate="print"/>
          <a:stretch>
            <a:fillRect/>
          </a:stretch>
        </p:blipFill>
        <p:spPr>
          <a:xfrm>
            <a:off x="521334" y="552195"/>
            <a:ext cx="1490827" cy="370331"/>
          </a:xfrm>
          <a:prstGeom prst="rect">
            <a:avLst/>
          </a:prstGeom>
        </p:spPr>
      </p:pic>
      <p:pic>
        <p:nvPicPr>
          <p:cNvPr id="19" name="bg object 19"/>
          <p:cNvPicPr/>
          <p:nvPr/>
        </p:nvPicPr>
        <p:blipFill>
          <a:blip r:embed="rId3" cstate="print"/>
          <a:stretch>
            <a:fillRect/>
          </a:stretch>
        </p:blipFill>
        <p:spPr>
          <a:xfrm>
            <a:off x="2569210" y="355600"/>
            <a:ext cx="1001571" cy="566927"/>
          </a:xfrm>
          <a:prstGeom prst="rect">
            <a:avLst/>
          </a:prstGeom>
        </p:spPr>
      </p:pic>
      <p:pic>
        <p:nvPicPr>
          <p:cNvPr id="20" name="bg object 20"/>
          <p:cNvPicPr/>
          <p:nvPr/>
        </p:nvPicPr>
        <p:blipFill>
          <a:blip r:embed="rId4" cstate="print"/>
          <a:stretch>
            <a:fillRect/>
          </a:stretch>
        </p:blipFill>
        <p:spPr>
          <a:xfrm>
            <a:off x="4274184" y="488186"/>
            <a:ext cx="991428" cy="434340"/>
          </a:xfrm>
          <a:prstGeom prst="rect">
            <a:avLst/>
          </a:prstGeom>
        </p:spPr>
      </p:pic>
      <p:pic>
        <p:nvPicPr>
          <p:cNvPr id="21" name="bg object 21"/>
          <p:cNvPicPr/>
          <p:nvPr/>
        </p:nvPicPr>
        <p:blipFill>
          <a:blip r:embed="rId5" cstate="print"/>
          <a:stretch>
            <a:fillRect/>
          </a:stretch>
        </p:blipFill>
        <p:spPr>
          <a:xfrm>
            <a:off x="5979159" y="526541"/>
            <a:ext cx="1082475" cy="402335"/>
          </a:xfrm>
          <a:prstGeom prst="rect">
            <a:avLst/>
          </a:prstGeom>
        </p:spPr>
      </p:pic>
      <p:sp>
        <p:nvSpPr>
          <p:cNvPr id="2" name="Holder 2"/>
          <p:cNvSpPr>
            <a:spLocks noGrp="1"/>
          </p:cNvSpPr>
          <p:nvPr>
            <p:ph type="title"/>
          </p:nvPr>
        </p:nvSpPr>
        <p:spPr/>
        <p:txBody>
          <a:bodyPr lIns="0" tIns="0" rIns="0" bIns="0"/>
          <a:lstStyle>
            <a:lvl1pPr>
              <a:defRPr sz="230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17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3/9/2026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378460" y="2459482"/>
            <a:ext cx="3292602" cy="705764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3898138" y="2459482"/>
            <a:ext cx="3292602" cy="705764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3/9/2026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3/9/2026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3/9/2026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749107" y="1538731"/>
            <a:ext cx="4065270" cy="375919"/>
          </a:xfrm>
          <a:prstGeom prst="rect">
            <a:avLst/>
          </a:prstGeom>
        </p:spPr>
        <p:txBody>
          <a:bodyPr wrap="square" lIns="0" tIns="0" rIns="0" bIns="0">
            <a:spAutoFit/>
          </a:bodyPr>
          <a:lstStyle>
            <a:lvl1pPr>
              <a:defRPr sz="230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561977" y="2158443"/>
            <a:ext cx="6422390" cy="7152640"/>
          </a:xfrm>
          <a:prstGeom prst="rect">
            <a:avLst/>
          </a:prstGeom>
        </p:spPr>
        <p:txBody>
          <a:bodyPr wrap="square" lIns="0" tIns="0" rIns="0" bIns="0">
            <a:spAutoFit/>
          </a:bodyPr>
          <a:lstStyle>
            <a:lvl1pPr>
              <a:defRPr sz="17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2573528" y="9944862"/>
            <a:ext cx="2422144" cy="53467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78460" y="9944862"/>
            <a:ext cx="1740916" cy="53467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3/9/2026</a:t>
            </a:fld>
            <a:endParaRPr lang="en-US"/>
          </a:p>
        </p:txBody>
      </p:sp>
      <p:sp>
        <p:nvSpPr>
          <p:cNvPr id="6" name="Holder 6"/>
          <p:cNvSpPr>
            <a:spLocks noGrp="1"/>
          </p:cNvSpPr>
          <p:nvPr>
            <p:ph type="sldNum" sz="quarter" idx="7"/>
          </p:nvPr>
        </p:nvSpPr>
        <p:spPr>
          <a:xfrm>
            <a:off x="5449824" y="9944862"/>
            <a:ext cx="1740916" cy="53467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hyperlink" Target="mailto:events@abccollege.edu" TargetMode="External"/><Relationship Id="rId2" Type="http://schemas.openxmlformats.org/officeDocument/2006/relationships/image" Target="../media/image9.png"/><Relationship Id="rId1" Type="http://schemas.openxmlformats.org/officeDocument/2006/relationships/slideLayout" Target="../slideLayouts/slideLayout5.xml"/><Relationship Id="rId6" Type="http://schemas.openxmlformats.org/officeDocument/2006/relationships/hyperlink" Target="mailto:xyz@gmail.com" TargetMode="External"/><Relationship Id="rId5" Type="http://schemas.openxmlformats.org/officeDocument/2006/relationships/image" Target="../media/image10.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5.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35" dirty="0"/>
              <a:t>FRONT-</a:t>
            </a:r>
            <a:r>
              <a:rPr spc="-20" dirty="0"/>
              <a:t>END</a:t>
            </a:r>
            <a:r>
              <a:rPr spc="-85" dirty="0"/>
              <a:t> </a:t>
            </a:r>
            <a:r>
              <a:rPr spc="-10" dirty="0"/>
              <a:t>DEVELOPMENT</a:t>
            </a:r>
          </a:p>
        </p:txBody>
      </p:sp>
      <p:sp>
        <p:nvSpPr>
          <p:cNvPr id="3" name="object 3"/>
          <p:cNvSpPr txBox="1">
            <a:spLocks noGrp="1"/>
          </p:cNvSpPr>
          <p:nvPr>
            <p:ph type="body" idx="1"/>
          </p:nvPr>
        </p:nvSpPr>
        <p:spPr>
          <a:xfrm>
            <a:off x="561977" y="2158443"/>
            <a:ext cx="6422390" cy="7419019"/>
          </a:xfrm>
          <a:prstGeom prst="rect">
            <a:avLst/>
          </a:prstGeom>
        </p:spPr>
        <p:txBody>
          <a:bodyPr vert="horz" wrap="square" lIns="0" tIns="12700" rIns="0" bIns="0" rtlCol="0">
            <a:spAutoFit/>
          </a:bodyPr>
          <a:lstStyle/>
          <a:p>
            <a:pPr marL="15240" algn="ctr">
              <a:lnSpc>
                <a:spcPct val="100000"/>
              </a:lnSpc>
              <a:spcBef>
                <a:spcPts val="100"/>
              </a:spcBef>
            </a:pPr>
            <a:r>
              <a:rPr spc="-10" dirty="0"/>
              <a:t>ASSIGNMENT</a:t>
            </a:r>
            <a:r>
              <a:rPr spc="-40" dirty="0"/>
              <a:t> </a:t>
            </a:r>
            <a:r>
              <a:rPr dirty="0"/>
              <a:t>1</a:t>
            </a:r>
            <a:r>
              <a:rPr spc="-35" dirty="0"/>
              <a:t> </a:t>
            </a:r>
            <a:r>
              <a:rPr spc="-10" dirty="0"/>
              <a:t>TEMPLATE</a:t>
            </a:r>
          </a:p>
          <a:p>
            <a:pPr>
              <a:lnSpc>
                <a:spcPct val="100000"/>
              </a:lnSpc>
              <a:spcBef>
                <a:spcPts val="585"/>
              </a:spcBef>
            </a:pPr>
            <a:endParaRPr spc="-10" dirty="0"/>
          </a:p>
          <a:p>
            <a:pPr marL="349250">
              <a:lnSpc>
                <a:spcPct val="100000"/>
              </a:lnSpc>
            </a:pPr>
            <a:r>
              <a:rPr sz="1200" dirty="0"/>
              <a:t>STUDENT</a:t>
            </a:r>
            <a:r>
              <a:rPr sz="1200" spc="-10" dirty="0"/>
              <a:t> NAME:</a:t>
            </a:r>
            <a:r>
              <a:rPr lang="en-US" sz="1200" spc="-10" dirty="0"/>
              <a:t> MUKESH A</a:t>
            </a:r>
            <a:endParaRPr sz="1200" dirty="0"/>
          </a:p>
          <a:p>
            <a:pPr marL="349250">
              <a:lnSpc>
                <a:spcPct val="100000"/>
              </a:lnSpc>
              <a:spcBef>
                <a:spcPts val="630"/>
              </a:spcBef>
            </a:pPr>
            <a:r>
              <a:rPr sz="1200" spc="-10" dirty="0"/>
              <a:t>YEAR:</a:t>
            </a:r>
            <a:r>
              <a:rPr lang="en-US" sz="1200" spc="-10" dirty="0"/>
              <a:t> II </a:t>
            </a:r>
            <a:r>
              <a:rPr lang="en-US" sz="1200" spc="-10" dirty="0" err="1"/>
              <a:t>nd</a:t>
            </a:r>
            <a:r>
              <a:rPr lang="en-US" sz="1200" spc="-10" dirty="0"/>
              <a:t> YEAR</a:t>
            </a:r>
            <a:endParaRPr sz="1200" dirty="0"/>
          </a:p>
          <a:p>
            <a:pPr marL="349250">
              <a:lnSpc>
                <a:spcPct val="100000"/>
              </a:lnSpc>
              <a:spcBef>
                <a:spcPts val="640"/>
              </a:spcBef>
            </a:pPr>
            <a:r>
              <a:rPr sz="1200" dirty="0"/>
              <a:t>COLLEGE</a:t>
            </a:r>
            <a:r>
              <a:rPr sz="1200" spc="175" dirty="0"/>
              <a:t> </a:t>
            </a:r>
            <a:r>
              <a:rPr sz="1200" spc="-20" dirty="0"/>
              <a:t>CODE:</a:t>
            </a:r>
            <a:r>
              <a:rPr lang="en-US" sz="1200" spc="-20" dirty="0"/>
              <a:t> 1455</a:t>
            </a:r>
            <a:endParaRPr sz="1200" dirty="0"/>
          </a:p>
          <a:p>
            <a:pPr marL="349250">
              <a:lnSpc>
                <a:spcPct val="100000"/>
              </a:lnSpc>
              <a:spcBef>
                <a:spcPts val="645"/>
              </a:spcBef>
            </a:pPr>
            <a:r>
              <a:rPr sz="1200" dirty="0"/>
              <a:t>COLLEGE</a:t>
            </a:r>
            <a:r>
              <a:rPr sz="1200" spc="-25" dirty="0"/>
              <a:t> </a:t>
            </a:r>
            <a:r>
              <a:rPr sz="1200" spc="-10" dirty="0"/>
              <a:t>NAME:</a:t>
            </a:r>
            <a:r>
              <a:rPr lang="en-US" sz="1200" spc="-10" dirty="0"/>
              <a:t> Tagore College Of Ats And Science</a:t>
            </a:r>
            <a:endParaRPr sz="1200" dirty="0"/>
          </a:p>
          <a:p>
            <a:pPr marL="349250">
              <a:lnSpc>
                <a:spcPct val="100000"/>
              </a:lnSpc>
              <a:spcBef>
                <a:spcPts val="640"/>
              </a:spcBef>
            </a:pPr>
            <a:r>
              <a:rPr sz="1200" spc="-10" dirty="0"/>
              <a:t>DEPARTMENT:</a:t>
            </a:r>
            <a:r>
              <a:rPr lang="en-US" sz="1200" spc="-10" dirty="0"/>
              <a:t> BSC Computer Science</a:t>
            </a:r>
            <a:endParaRPr sz="1200" dirty="0"/>
          </a:p>
          <a:p>
            <a:pPr marL="349250">
              <a:lnSpc>
                <a:spcPct val="100000"/>
              </a:lnSpc>
              <a:spcBef>
                <a:spcPts val="919"/>
              </a:spcBef>
            </a:pPr>
            <a:r>
              <a:rPr sz="1200" spc="-10" dirty="0"/>
              <a:t>SEMESTER:</a:t>
            </a:r>
            <a:r>
              <a:rPr lang="en-US" sz="1200" spc="-10" dirty="0"/>
              <a:t> 4th</a:t>
            </a:r>
            <a:endParaRPr sz="1200" dirty="0"/>
          </a:p>
          <a:p>
            <a:pPr marL="349250">
              <a:lnSpc>
                <a:spcPct val="100000"/>
              </a:lnSpc>
              <a:spcBef>
                <a:spcPts val="930"/>
              </a:spcBef>
            </a:pPr>
            <a:r>
              <a:rPr sz="1200" dirty="0"/>
              <a:t>ROLL</a:t>
            </a:r>
            <a:r>
              <a:rPr sz="1200" spc="-10" dirty="0"/>
              <a:t> </a:t>
            </a:r>
            <a:r>
              <a:rPr sz="1200" spc="-25" dirty="0"/>
              <a:t>NO:</a:t>
            </a:r>
            <a:r>
              <a:rPr lang="en-IN" sz="1200" spc="-25" dirty="0"/>
              <a:t>unm1455222407732</a:t>
            </a:r>
            <a:endParaRPr sz="1200" dirty="0"/>
          </a:p>
          <a:p>
            <a:pPr marL="349250">
              <a:lnSpc>
                <a:spcPct val="100000"/>
              </a:lnSpc>
              <a:spcBef>
                <a:spcPts val="680"/>
              </a:spcBef>
            </a:pPr>
            <a:r>
              <a:rPr sz="1200" spc="-10" dirty="0"/>
              <a:t>NMID:</a:t>
            </a:r>
            <a:r>
              <a:rPr lang="en-IN" sz="1200" spc="-10" dirty="0"/>
              <a:t>93EE64DD1F454E9B2014A00FD5215EC4</a:t>
            </a:r>
            <a:endParaRPr sz="1200" dirty="0"/>
          </a:p>
          <a:p>
            <a:pPr marL="349250">
              <a:lnSpc>
                <a:spcPct val="100000"/>
              </a:lnSpc>
              <a:spcBef>
                <a:spcPts val="575"/>
              </a:spcBef>
            </a:pPr>
            <a:r>
              <a:rPr sz="1200" spc="-10"/>
              <a:t>DATE:</a:t>
            </a:r>
            <a:r>
              <a:rPr lang="en-US" sz="1200" spc="-10"/>
              <a:t> 09.03.2026</a:t>
            </a:r>
            <a:endParaRPr sz="1200" dirty="0"/>
          </a:p>
          <a:p>
            <a:pPr marL="349250">
              <a:lnSpc>
                <a:spcPct val="100000"/>
              </a:lnSpc>
              <a:spcBef>
                <a:spcPts val="630"/>
              </a:spcBef>
            </a:pPr>
            <a:r>
              <a:rPr sz="1200" dirty="0"/>
              <a:t>PROJECT</a:t>
            </a:r>
            <a:r>
              <a:rPr sz="1200" spc="-30" dirty="0"/>
              <a:t> </a:t>
            </a:r>
            <a:r>
              <a:rPr sz="1200" spc="-10" dirty="0"/>
              <a:t>TITLE:</a:t>
            </a:r>
            <a:r>
              <a:rPr lang="en-US" sz="1200" spc="-10" dirty="0"/>
              <a:t> Event Registration Form</a:t>
            </a:r>
            <a:endParaRPr sz="1200" dirty="0"/>
          </a:p>
          <a:p>
            <a:pPr>
              <a:lnSpc>
                <a:spcPct val="100000"/>
              </a:lnSpc>
            </a:pPr>
            <a:endParaRPr sz="1200" dirty="0"/>
          </a:p>
          <a:p>
            <a:pPr>
              <a:lnSpc>
                <a:spcPct val="100000"/>
              </a:lnSpc>
              <a:spcBef>
                <a:spcPts val="400"/>
              </a:spcBef>
            </a:pPr>
            <a:endParaRPr sz="1200" dirty="0"/>
          </a:p>
          <a:p>
            <a:pPr marL="233679" indent="-217804">
              <a:lnSpc>
                <a:spcPct val="100000"/>
              </a:lnSpc>
              <a:buSzPct val="91304"/>
              <a:buAutoNum type="arabicPeriod"/>
              <a:tabLst>
                <a:tab pos="233679" algn="l"/>
              </a:tabLst>
            </a:pPr>
            <a:r>
              <a:rPr sz="2300" dirty="0">
                <a:solidFill>
                  <a:srgbClr val="6C9DEB"/>
                </a:solidFill>
              </a:rPr>
              <a:t>Assignment</a:t>
            </a:r>
            <a:r>
              <a:rPr sz="2300" spc="-85" dirty="0">
                <a:solidFill>
                  <a:srgbClr val="6C9DEB"/>
                </a:solidFill>
              </a:rPr>
              <a:t> </a:t>
            </a:r>
            <a:r>
              <a:rPr sz="2300" dirty="0">
                <a:solidFill>
                  <a:srgbClr val="6C9DEB"/>
                </a:solidFill>
              </a:rPr>
              <a:t>and</a:t>
            </a:r>
            <a:r>
              <a:rPr sz="2300" spc="-75" dirty="0">
                <a:solidFill>
                  <a:srgbClr val="6C9DEB"/>
                </a:solidFill>
              </a:rPr>
              <a:t> </a:t>
            </a:r>
            <a:r>
              <a:rPr sz="2300" spc="-10" dirty="0">
                <a:solidFill>
                  <a:srgbClr val="6C9DEB"/>
                </a:solidFill>
              </a:rPr>
              <a:t>Assumptions:</a:t>
            </a:r>
            <a:endParaRPr sz="2300" dirty="0"/>
          </a:p>
          <a:p>
            <a:pPr marL="104775" algn="just">
              <a:lnSpc>
                <a:spcPct val="100000"/>
              </a:lnSpc>
              <a:spcBef>
                <a:spcPts val="1275"/>
              </a:spcBef>
            </a:pPr>
            <a:r>
              <a:rPr lang="en-US" sz="1300" b="0" spc="-10" dirty="0">
                <a:latin typeface="Times New Roman"/>
                <a:cs typeface="Times New Roman"/>
              </a:rPr>
              <a:t>Design and develop a simple Event Registration web page using HTML and CSS that allows users to enter details, select event preferences, and view registered participants.</a:t>
            </a:r>
            <a:endParaRPr sz="1300" dirty="0">
              <a:latin typeface="Times New Roman"/>
              <a:cs typeface="Times New Roman"/>
            </a:endParaRPr>
          </a:p>
          <a:p>
            <a:pPr marL="12700" lvl="1">
              <a:lnSpc>
                <a:spcPct val="100000"/>
              </a:lnSpc>
              <a:spcBef>
                <a:spcPts val="655"/>
              </a:spcBef>
              <a:buSzPct val="94117"/>
              <a:tabLst>
                <a:tab pos="334010" algn="l"/>
              </a:tabLst>
            </a:pPr>
            <a:r>
              <a:rPr lang="en-US" sz="1700" b="1" spc="-10" dirty="0">
                <a:latin typeface="Times New Roman"/>
                <a:cs typeface="Times New Roman"/>
              </a:rPr>
              <a:t>1.1	</a:t>
            </a:r>
            <a:r>
              <a:rPr sz="1700" b="1" spc="-10" dirty="0">
                <a:latin typeface="Times New Roman"/>
                <a:cs typeface="Times New Roman"/>
              </a:rPr>
              <a:t>Assignment:</a:t>
            </a:r>
            <a:endParaRPr sz="1700" dirty="0">
              <a:latin typeface="Times New Roman"/>
              <a:cs typeface="Times New Roman"/>
            </a:endParaRPr>
          </a:p>
          <a:p>
            <a:pPr marL="63500" marR="5080" indent="-38100" algn="just">
              <a:lnSpc>
                <a:spcPct val="178900"/>
              </a:lnSpc>
              <a:spcBef>
                <a:spcPts val="990"/>
              </a:spcBef>
            </a:pPr>
            <a:r>
              <a:rPr lang="en-US" sz="1200" b="0" dirty="0">
                <a:latin typeface="Times New Roman"/>
                <a:cs typeface="Times New Roman"/>
              </a:rPr>
              <a:t> The proposed assignment is to design and develop a Simple Event Registration Page using HTML,CSS, and JavaScript that allows users to view event details, enter personal information, select event preferences, submit registration data, and display registered participants in a table.</a:t>
            </a:r>
          </a:p>
          <a:p>
            <a:pPr marL="63500" algn="just">
              <a:lnSpc>
                <a:spcPct val="100000"/>
              </a:lnSpc>
              <a:spcBef>
                <a:spcPts val="1140"/>
              </a:spcBef>
            </a:pPr>
            <a:r>
              <a:rPr sz="1200" b="0" dirty="0">
                <a:latin typeface="Times New Roman"/>
                <a:cs typeface="Times New Roman"/>
              </a:rPr>
              <a:t>The</a:t>
            </a:r>
            <a:r>
              <a:rPr sz="1200" b="0" spc="-25" dirty="0">
                <a:latin typeface="Times New Roman"/>
                <a:cs typeface="Times New Roman"/>
              </a:rPr>
              <a:t> </a:t>
            </a:r>
            <a:r>
              <a:rPr sz="1200" b="0" dirty="0">
                <a:latin typeface="Times New Roman"/>
                <a:cs typeface="Times New Roman"/>
              </a:rPr>
              <a:t>web</a:t>
            </a:r>
            <a:r>
              <a:rPr sz="1200" b="0" spc="-25" dirty="0">
                <a:latin typeface="Times New Roman"/>
                <a:cs typeface="Times New Roman"/>
              </a:rPr>
              <a:t> </a:t>
            </a:r>
            <a:r>
              <a:rPr sz="1200" b="0" dirty="0">
                <a:latin typeface="Times New Roman"/>
                <a:cs typeface="Times New Roman"/>
              </a:rPr>
              <a:t>page</a:t>
            </a:r>
            <a:r>
              <a:rPr sz="1200" b="0" spc="-25" dirty="0">
                <a:latin typeface="Times New Roman"/>
                <a:cs typeface="Times New Roman"/>
              </a:rPr>
              <a:t> </a:t>
            </a:r>
            <a:r>
              <a:rPr sz="1200" b="0" dirty="0">
                <a:latin typeface="Times New Roman"/>
                <a:cs typeface="Times New Roman"/>
              </a:rPr>
              <a:t>should</a:t>
            </a:r>
            <a:r>
              <a:rPr sz="1200" b="0" spc="-25" dirty="0">
                <a:latin typeface="Times New Roman"/>
                <a:cs typeface="Times New Roman"/>
              </a:rPr>
              <a:t> </a:t>
            </a:r>
            <a:r>
              <a:rPr sz="1200" b="0" dirty="0">
                <a:latin typeface="Times New Roman"/>
                <a:cs typeface="Times New Roman"/>
              </a:rPr>
              <a:t>allow</a:t>
            </a:r>
            <a:r>
              <a:rPr sz="1200" b="0" spc="-25" dirty="0">
                <a:latin typeface="Times New Roman"/>
                <a:cs typeface="Times New Roman"/>
              </a:rPr>
              <a:t> </a:t>
            </a:r>
            <a:r>
              <a:rPr sz="1200" b="0" dirty="0">
                <a:latin typeface="Times New Roman"/>
                <a:cs typeface="Times New Roman"/>
              </a:rPr>
              <a:t>users</a:t>
            </a:r>
            <a:r>
              <a:rPr sz="1200" b="0" spc="-25" dirty="0">
                <a:latin typeface="Times New Roman"/>
                <a:cs typeface="Times New Roman"/>
              </a:rPr>
              <a:t> to:</a:t>
            </a:r>
            <a:endParaRPr sz="1200" dirty="0">
              <a:latin typeface="Times New Roman"/>
              <a:cs typeface="Times New Roman"/>
            </a:endParaRPr>
          </a:p>
          <a:p>
            <a:pPr marL="230504" lvl="2" indent="-90805">
              <a:lnSpc>
                <a:spcPts val="1410"/>
              </a:lnSpc>
              <a:spcBef>
                <a:spcPts val="1140"/>
              </a:spcBef>
              <a:buChar char="•"/>
              <a:tabLst>
                <a:tab pos="230504" algn="l"/>
              </a:tabLst>
            </a:pPr>
            <a:r>
              <a:rPr sz="1200" dirty="0">
                <a:latin typeface="Times New Roman"/>
                <a:cs typeface="Times New Roman"/>
              </a:rPr>
              <a:t>View</a:t>
            </a:r>
            <a:r>
              <a:rPr sz="1200" spc="-75" dirty="0">
                <a:latin typeface="Times New Roman"/>
                <a:cs typeface="Times New Roman"/>
              </a:rPr>
              <a:t> </a:t>
            </a:r>
            <a:r>
              <a:rPr sz="1200" dirty="0">
                <a:latin typeface="Times New Roman"/>
                <a:cs typeface="Times New Roman"/>
              </a:rPr>
              <a:t>event</a:t>
            </a:r>
            <a:r>
              <a:rPr sz="1200" spc="-65" dirty="0">
                <a:latin typeface="Times New Roman"/>
                <a:cs typeface="Times New Roman"/>
              </a:rPr>
              <a:t> </a:t>
            </a:r>
            <a:r>
              <a:rPr sz="1200" spc="-10" dirty="0">
                <a:latin typeface="Times New Roman"/>
                <a:cs typeface="Times New Roman"/>
              </a:rPr>
              <a:t>details</a:t>
            </a:r>
            <a:endParaRPr sz="1200" dirty="0">
              <a:latin typeface="Times New Roman"/>
              <a:cs typeface="Times New Roman"/>
            </a:endParaRPr>
          </a:p>
          <a:p>
            <a:pPr marL="230504" lvl="2" indent="-90805">
              <a:lnSpc>
                <a:spcPts val="1380"/>
              </a:lnSpc>
              <a:buChar char="•"/>
              <a:tabLst>
                <a:tab pos="230504" algn="l"/>
              </a:tabLst>
            </a:pPr>
            <a:r>
              <a:rPr sz="1200" dirty="0">
                <a:latin typeface="Times New Roman"/>
                <a:cs typeface="Times New Roman"/>
              </a:rPr>
              <a:t>Enter</a:t>
            </a:r>
            <a:r>
              <a:rPr sz="1200" spc="-55" dirty="0">
                <a:latin typeface="Times New Roman"/>
                <a:cs typeface="Times New Roman"/>
              </a:rPr>
              <a:t> </a:t>
            </a:r>
            <a:r>
              <a:rPr sz="1200" dirty="0">
                <a:latin typeface="Times New Roman"/>
                <a:cs typeface="Times New Roman"/>
              </a:rPr>
              <a:t>personal</a:t>
            </a:r>
            <a:r>
              <a:rPr sz="1200" spc="-55" dirty="0">
                <a:latin typeface="Times New Roman"/>
                <a:cs typeface="Times New Roman"/>
              </a:rPr>
              <a:t> </a:t>
            </a:r>
            <a:r>
              <a:rPr sz="1200" spc="-10" dirty="0">
                <a:latin typeface="Times New Roman"/>
                <a:cs typeface="Times New Roman"/>
              </a:rPr>
              <a:t>information</a:t>
            </a:r>
            <a:endParaRPr sz="1200" dirty="0">
              <a:latin typeface="Times New Roman"/>
              <a:cs typeface="Times New Roman"/>
            </a:endParaRPr>
          </a:p>
          <a:p>
            <a:pPr marL="230504" lvl="2" indent="-90805">
              <a:lnSpc>
                <a:spcPts val="1380"/>
              </a:lnSpc>
              <a:buChar char="•"/>
              <a:tabLst>
                <a:tab pos="230504" algn="l"/>
              </a:tabLst>
            </a:pPr>
            <a:r>
              <a:rPr sz="1200" dirty="0">
                <a:latin typeface="Times New Roman"/>
                <a:cs typeface="Times New Roman"/>
              </a:rPr>
              <a:t>Select</a:t>
            </a:r>
            <a:r>
              <a:rPr sz="1200" spc="-40" dirty="0">
                <a:latin typeface="Times New Roman"/>
                <a:cs typeface="Times New Roman"/>
              </a:rPr>
              <a:t> </a:t>
            </a:r>
            <a:r>
              <a:rPr sz="1200" dirty="0">
                <a:latin typeface="Times New Roman"/>
                <a:cs typeface="Times New Roman"/>
              </a:rPr>
              <a:t>event</a:t>
            </a:r>
            <a:r>
              <a:rPr sz="1200" spc="-40" dirty="0">
                <a:latin typeface="Times New Roman"/>
                <a:cs typeface="Times New Roman"/>
              </a:rPr>
              <a:t> </a:t>
            </a:r>
            <a:r>
              <a:rPr sz="1200" spc="-10" dirty="0">
                <a:latin typeface="Times New Roman"/>
                <a:cs typeface="Times New Roman"/>
              </a:rPr>
              <a:t>preferences</a:t>
            </a:r>
            <a:endParaRPr sz="1200" dirty="0">
              <a:latin typeface="Times New Roman"/>
              <a:cs typeface="Times New Roman"/>
            </a:endParaRPr>
          </a:p>
          <a:p>
            <a:pPr marL="230504" lvl="2" indent="-90805">
              <a:lnSpc>
                <a:spcPts val="1380"/>
              </a:lnSpc>
              <a:buChar char="•"/>
              <a:tabLst>
                <a:tab pos="230504" algn="l"/>
              </a:tabLst>
            </a:pPr>
            <a:r>
              <a:rPr sz="1200" dirty="0">
                <a:latin typeface="Times New Roman"/>
                <a:cs typeface="Times New Roman"/>
              </a:rPr>
              <a:t>Submit</a:t>
            </a:r>
            <a:r>
              <a:rPr sz="1200" spc="-15" dirty="0">
                <a:latin typeface="Times New Roman"/>
                <a:cs typeface="Times New Roman"/>
              </a:rPr>
              <a:t> </a:t>
            </a:r>
            <a:r>
              <a:rPr sz="1200" spc="-10" dirty="0">
                <a:latin typeface="Times New Roman"/>
                <a:cs typeface="Times New Roman"/>
              </a:rPr>
              <a:t>registration details</a:t>
            </a:r>
            <a:endParaRPr sz="1200" dirty="0">
              <a:latin typeface="Times New Roman"/>
              <a:cs typeface="Times New Roman"/>
            </a:endParaRPr>
          </a:p>
          <a:p>
            <a:pPr marL="230504" lvl="2" indent="-90805">
              <a:lnSpc>
                <a:spcPts val="1410"/>
              </a:lnSpc>
              <a:buChar char="•"/>
              <a:tabLst>
                <a:tab pos="230504" algn="l"/>
              </a:tabLst>
            </a:pPr>
            <a:r>
              <a:rPr sz="1200" dirty="0">
                <a:latin typeface="Times New Roman"/>
                <a:cs typeface="Times New Roman"/>
              </a:rPr>
              <a:t>View</a:t>
            </a:r>
            <a:r>
              <a:rPr sz="1200" spc="-20" dirty="0">
                <a:latin typeface="Times New Roman"/>
                <a:cs typeface="Times New Roman"/>
              </a:rPr>
              <a:t> </a:t>
            </a:r>
            <a:r>
              <a:rPr sz="1200" spc="-10" dirty="0">
                <a:latin typeface="Times New Roman"/>
                <a:cs typeface="Times New Roman"/>
              </a:rPr>
              <a:t>registered participants (static table)</a:t>
            </a:r>
            <a:endParaRPr sz="1200" dirty="0">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660400" y="2633852"/>
            <a:ext cx="6502400" cy="0"/>
          </a:xfrm>
          <a:custGeom>
            <a:avLst/>
            <a:gdLst/>
            <a:ahLst/>
            <a:cxnLst/>
            <a:rect l="l" t="t" r="r" b="b"/>
            <a:pathLst>
              <a:path w="6502400">
                <a:moveTo>
                  <a:pt x="0" y="0"/>
                </a:moveTo>
                <a:lnTo>
                  <a:pt x="6502400" y="0"/>
                </a:lnTo>
              </a:path>
            </a:pathLst>
          </a:custGeom>
          <a:ln w="12698">
            <a:solidFill>
              <a:srgbClr val="868686"/>
            </a:solidFill>
          </a:ln>
        </p:spPr>
        <p:txBody>
          <a:bodyPr wrap="square" lIns="0" tIns="0" rIns="0" bIns="0" rtlCol="0"/>
          <a:lstStyle/>
          <a:p>
            <a:endParaRPr/>
          </a:p>
        </p:txBody>
      </p:sp>
      <p:sp>
        <p:nvSpPr>
          <p:cNvPr id="3" name="object 3"/>
          <p:cNvSpPr/>
          <p:nvPr/>
        </p:nvSpPr>
        <p:spPr>
          <a:xfrm>
            <a:off x="660400" y="3924960"/>
            <a:ext cx="6502400" cy="0"/>
          </a:xfrm>
          <a:custGeom>
            <a:avLst/>
            <a:gdLst/>
            <a:ahLst/>
            <a:cxnLst/>
            <a:rect l="l" t="t" r="r" b="b"/>
            <a:pathLst>
              <a:path w="6502400">
                <a:moveTo>
                  <a:pt x="0" y="0"/>
                </a:moveTo>
                <a:lnTo>
                  <a:pt x="6502400" y="0"/>
                </a:lnTo>
              </a:path>
            </a:pathLst>
          </a:custGeom>
          <a:ln w="12698">
            <a:solidFill>
              <a:srgbClr val="868686"/>
            </a:solidFill>
          </a:ln>
        </p:spPr>
        <p:txBody>
          <a:bodyPr wrap="square" lIns="0" tIns="0" rIns="0" bIns="0" rtlCol="0"/>
          <a:lstStyle/>
          <a:p>
            <a:endParaRPr/>
          </a:p>
        </p:txBody>
      </p:sp>
      <p:sp>
        <p:nvSpPr>
          <p:cNvPr id="4" name="object 4"/>
          <p:cNvSpPr/>
          <p:nvPr/>
        </p:nvSpPr>
        <p:spPr>
          <a:xfrm>
            <a:off x="660400" y="5762028"/>
            <a:ext cx="6502400" cy="0"/>
          </a:xfrm>
          <a:custGeom>
            <a:avLst/>
            <a:gdLst/>
            <a:ahLst/>
            <a:cxnLst/>
            <a:rect l="l" t="t" r="r" b="b"/>
            <a:pathLst>
              <a:path w="6502400">
                <a:moveTo>
                  <a:pt x="0" y="0"/>
                </a:moveTo>
                <a:lnTo>
                  <a:pt x="6502400" y="0"/>
                </a:lnTo>
              </a:path>
            </a:pathLst>
          </a:custGeom>
          <a:ln w="12698">
            <a:solidFill>
              <a:srgbClr val="868686"/>
            </a:solidFill>
          </a:ln>
        </p:spPr>
        <p:txBody>
          <a:bodyPr wrap="square" lIns="0" tIns="0" rIns="0" bIns="0" rtlCol="0"/>
          <a:lstStyle/>
          <a:p>
            <a:endParaRPr/>
          </a:p>
        </p:txBody>
      </p:sp>
      <p:pic>
        <p:nvPicPr>
          <p:cNvPr id="5" name="object 5"/>
          <p:cNvPicPr/>
          <p:nvPr/>
        </p:nvPicPr>
        <p:blipFill>
          <a:blip r:embed="rId2" cstate="print"/>
          <a:stretch>
            <a:fillRect/>
          </a:stretch>
        </p:blipFill>
        <p:spPr>
          <a:xfrm>
            <a:off x="521334" y="660145"/>
            <a:ext cx="1490827" cy="370331"/>
          </a:xfrm>
          <a:prstGeom prst="rect">
            <a:avLst/>
          </a:prstGeom>
        </p:spPr>
      </p:pic>
      <p:pic>
        <p:nvPicPr>
          <p:cNvPr id="6" name="object 6"/>
          <p:cNvPicPr/>
          <p:nvPr/>
        </p:nvPicPr>
        <p:blipFill>
          <a:blip r:embed="rId3" cstate="print"/>
          <a:stretch>
            <a:fillRect/>
          </a:stretch>
        </p:blipFill>
        <p:spPr>
          <a:xfrm>
            <a:off x="2569210" y="647700"/>
            <a:ext cx="1011727" cy="566927"/>
          </a:xfrm>
          <a:prstGeom prst="rect">
            <a:avLst/>
          </a:prstGeom>
        </p:spPr>
      </p:pic>
      <p:pic>
        <p:nvPicPr>
          <p:cNvPr id="7" name="object 7"/>
          <p:cNvPicPr/>
          <p:nvPr/>
        </p:nvPicPr>
        <p:blipFill>
          <a:blip r:embed="rId4" cstate="print"/>
          <a:stretch>
            <a:fillRect/>
          </a:stretch>
        </p:blipFill>
        <p:spPr>
          <a:xfrm>
            <a:off x="4093209" y="792986"/>
            <a:ext cx="991428" cy="434340"/>
          </a:xfrm>
          <a:prstGeom prst="rect">
            <a:avLst/>
          </a:prstGeom>
        </p:spPr>
      </p:pic>
      <p:pic>
        <p:nvPicPr>
          <p:cNvPr id="8" name="object 8"/>
          <p:cNvPicPr/>
          <p:nvPr/>
        </p:nvPicPr>
        <p:blipFill>
          <a:blip r:embed="rId5" cstate="print"/>
          <a:stretch>
            <a:fillRect/>
          </a:stretch>
        </p:blipFill>
        <p:spPr>
          <a:xfrm>
            <a:off x="5702934" y="812291"/>
            <a:ext cx="1082475" cy="402335"/>
          </a:xfrm>
          <a:prstGeom prst="rect">
            <a:avLst/>
          </a:prstGeom>
        </p:spPr>
      </p:pic>
      <p:sp>
        <p:nvSpPr>
          <p:cNvPr id="9" name="object 9"/>
          <p:cNvSpPr txBox="1"/>
          <p:nvPr/>
        </p:nvSpPr>
        <p:spPr>
          <a:xfrm>
            <a:off x="577851" y="1614415"/>
            <a:ext cx="6502399" cy="1295226"/>
          </a:xfrm>
          <a:prstGeom prst="rect">
            <a:avLst/>
          </a:prstGeom>
        </p:spPr>
        <p:txBody>
          <a:bodyPr vert="horz" wrap="square" lIns="0" tIns="12700" rIns="0" bIns="0" rtlCol="0">
            <a:spAutoFit/>
          </a:bodyPr>
          <a:lstStyle/>
          <a:p>
            <a:pPr marL="12700">
              <a:lnSpc>
                <a:spcPct val="100000"/>
              </a:lnSpc>
              <a:spcBef>
                <a:spcPts val="100"/>
              </a:spcBef>
            </a:pPr>
            <a:r>
              <a:rPr sz="1600" b="1" spc="-10" dirty="0">
                <a:latin typeface="Times New Roman"/>
                <a:cs typeface="Times New Roman"/>
              </a:rPr>
              <a:t>1.</a:t>
            </a:r>
            <a:r>
              <a:rPr lang="en-US" sz="1600" b="1" spc="-10" dirty="0">
                <a:latin typeface="Times New Roman"/>
                <a:cs typeface="Times New Roman"/>
              </a:rPr>
              <a:t>2   </a:t>
            </a:r>
            <a:r>
              <a:rPr sz="1700" b="1" spc="-10" dirty="0">
                <a:latin typeface="Times New Roman"/>
                <a:cs typeface="Times New Roman"/>
              </a:rPr>
              <a:t>Purpose:</a:t>
            </a:r>
            <a:endParaRPr sz="1700" dirty="0">
              <a:latin typeface="Times New Roman"/>
              <a:cs typeface="Times New Roman"/>
            </a:endParaRPr>
          </a:p>
          <a:p>
            <a:pPr marL="12700">
              <a:lnSpc>
                <a:spcPct val="100000"/>
              </a:lnSpc>
              <a:spcBef>
                <a:spcPts val="1145"/>
              </a:spcBef>
            </a:pPr>
            <a:r>
              <a:rPr lang="en-US" sz="1200" dirty="0">
                <a:latin typeface="Times New Roman"/>
                <a:cs typeface="Times New Roman"/>
              </a:rPr>
              <a:t>The objective of this assignment is to understand the fundamentals of front-end development by creating a structured web page, designing responsive forms using CSS, and implementing basic interactivity using JavaScript.</a:t>
            </a:r>
          </a:p>
          <a:p>
            <a:pPr marL="12700">
              <a:lnSpc>
                <a:spcPct val="100000"/>
              </a:lnSpc>
              <a:spcBef>
                <a:spcPts val="1145"/>
              </a:spcBef>
            </a:pPr>
            <a:endParaRPr sz="1200" dirty="0">
              <a:latin typeface="Times New Roman"/>
              <a:cs typeface="Times New Roman"/>
            </a:endParaRPr>
          </a:p>
        </p:txBody>
      </p:sp>
      <p:sp>
        <p:nvSpPr>
          <p:cNvPr id="10" name="object 10"/>
          <p:cNvSpPr txBox="1"/>
          <p:nvPr/>
        </p:nvSpPr>
        <p:spPr>
          <a:xfrm>
            <a:off x="612776" y="2954319"/>
            <a:ext cx="6467474" cy="889987"/>
          </a:xfrm>
          <a:prstGeom prst="rect">
            <a:avLst/>
          </a:prstGeom>
        </p:spPr>
        <p:txBody>
          <a:bodyPr vert="horz" wrap="square" lIns="0" tIns="12700" rIns="0" bIns="0" rtlCol="0">
            <a:spAutoFit/>
          </a:bodyPr>
          <a:lstStyle/>
          <a:p>
            <a:pPr marL="12700">
              <a:lnSpc>
                <a:spcPct val="100000"/>
              </a:lnSpc>
              <a:spcBef>
                <a:spcPts val="100"/>
              </a:spcBef>
            </a:pPr>
            <a:r>
              <a:rPr sz="2200" b="1" dirty="0">
                <a:solidFill>
                  <a:srgbClr val="3B78D8"/>
                </a:solidFill>
                <a:latin typeface="Times New Roman"/>
                <a:cs typeface="Times New Roman"/>
              </a:rPr>
              <a:t>2.</a:t>
            </a:r>
            <a:r>
              <a:rPr sz="2300" b="1" dirty="0">
                <a:solidFill>
                  <a:srgbClr val="3B78D8"/>
                </a:solidFill>
                <a:latin typeface="Times New Roman"/>
                <a:cs typeface="Times New Roman"/>
              </a:rPr>
              <a:t>Problem</a:t>
            </a:r>
            <a:r>
              <a:rPr sz="2300" b="1" spc="-45" dirty="0">
                <a:solidFill>
                  <a:srgbClr val="3B78D8"/>
                </a:solidFill>
                <a:latin typeface="Times New Roman"/>
                <a:cs typeface="Times New Roman"/>
              </a:rPr>
              <a:t> </a:t>
            </a:r>
            <a:r>
              <a:rPr sz="2300" b="1" spc="-10" dirty="0">
                <a:solidFill>
                  <a:srgbClr val="3B78D8"/>
                </a:solidFill>
                <a:latin typeface="Times New Roman"/>
                <a:cs typeface="Times New Roman"/>
              </a:rPr>
              <a:t>Statement:</a:t>
            </a:r>
            <a:endParaRPr sz="2300" dirty="0">
              <a:latin typeface="Times New Roman"/>
              <a:cs typeface="Times New Roman"/>
            </a:endParaRPr>
          </a:p>
          <a:p>
            <a:pPr marL="12700">
              <a:lnSpc>
                <a:spcPct val="100000"/>
              </a:lnSpc>
              <a:spcBef>
                <a:spcPts val="1155"/>
              </a:spcBef>
            </a:pPr>
            <a:r>
              <a:rPr lang="en-US" sz="1200" dirty="0">
                <a:latin typeface="Times New Roman"/>
                <a:cs typeface="Times New Roman"/>
              </a:rPr>
              <a:t>This application solves the problem of manual event registration by providing an online system that efficiently collects, organizes, and displays participant details, reducing errors and saving time.</a:t>
            </a:r>
          </a:p>
        </p:txBody>
      </p:sp>
      <p:sp>
        <p:nvSpPr>
          <p:cNvPr id="11" name="object 11"/>
          <p:cNvSpPr txBox="1"/>
          <p:nvPr/>
        </p:nvSpPr>
        <p:spPr>
          <a:xfrm>
            <a:off x="565152" y="4245909"/>
            <a:ext cx="6515098" cy="1477328"/>
          </a:xfrm>
          <a:prstGeom prst="rect">
            <a:avLst/>
          </a:prstGeom>
        </p:spPr>
        <p:txBody>
          <a:bodyPr vert="horz" wrap="square" lIns="0" tIns="12700" rIns="0" bIns="0" rtlCol="0">
            <a:spAutoFit/>
          </a:bodyPr>
          <a:lstStyle/>
          <a:p>
            <a:pPr marL="230504" indent="-217804">
              <a:lnSpc>
                <a:spcPct val="100000"/>
              </a:lnSpc>
              <a:spcBef>
                <a:spcPts val="100"/>
              </a:spcBef>
              <a:buSzPct val="91304"/>
              <a:buAutoNum type="arabicPeriod" startAt="3"/>
              <a:tabLst>
                <a:tab pos="230504" algn="l"/>
              </a:tabLst>
            </a:pPr>
            <a:r>
              <a:rPr sz="2300" b="1" dirty="0">
                <a:solidFill>
                  <a:srgbClr val="3B78D8"/>
                </a:solidFill>
                <a:latin typeface="Times New Roman"/>
                <a:cs typeface="Times New Roman"/>
              </a:rPr>
              <a:t>Expected</a:t>
            </a:r>
            <a:r>
              <a:rPr sz="2300" b="1" spc="-100" dirty="0">
                <a:solidFill>
                  <a:srgbClr val="3B78D8"/>
                </a:solidFill>
                <a:latin typeface="Times New Roman"/>
                <a:cs typeface="Times New Roman"/>
              </a:rPr>
              <a:t> </a:t>
            </a:r>
            <a:r>
              <a:rPr sz="2300" b="1" spc="-10" dirty="0">
                <a:solidFill>
                  <a:srgbClr val="3B78D8"/>
                </a:solidFill>
                <a:latin typeface="Times New Roman"/>
                <a:cs typeface="Times New Roman"/>
              </a:rPr>
              <a:t>Features:</a:t>
            </a:r>
            <a:endParaRPr sz="2300" dirty="0">
              <a:latin typeface="Times New Roman"/>
              <a:cs typeface="Times New Roman"/>
            </a:endParaRPr>
          </a:p>
          <a:p>
            <a:pPr marL="60324" lvl="1">
              <a:lnSpc>
                <a:spcPct val="100000"/>
              </a:lnSpc>
              <a:spcBef>
                <a:spcPts val="1725"/>
              </a:spcBef>
              <a:buSzPct val="94117"/>
              <a:tabLst>
                <a:tab pos="435609" algn="l"/>
              </a:tabLst>
            </a:pPr>
            <a:r>
              <a:rPr lang="en-US" sz="1700" b="1" dirty="0">
                <a:latin typeface="Times New Roman"/>
                <a:cs typeface="Times New Roman"/>
              </a:rPr>
              <a:t>3.1	</a:t>
            </a:r>
            <a:r>
              <a:rPr sz="1700" b="1" dirty="0">
                <a:latin typeface="Times New Roman"/>
                <a:cs typeface="Times New Roman"/>
              </a:rPr>
              <a:t>Event</a:t>
            </a:r>
            <a:r>
              <a:rPr sz="1700" b="1" spc="-65" dirty="0">
                <a:latin typeface="Times New Roman"/>
                <a:cs typeface="Times New Roman"/>
              </a:rPr>
              <a:t> </a:t>
            </a:r>
            <a:r>
              <a:rPr sz="1700" b="1" dirty="0">
                <a:latin typeface="Times New Roman"/>
                <a:cs typeface="Times New Roman"/>
              </a:rPr>
              <a:t>Title</a:t>
            </a:r>
            <a:r>
              <a:rPr sz="1700" b="1" spc="-60" dirty="0">
                <a:latin typeface="Times New Roman"/>
                <a:cs typeface="Times New Roman"/>
              </a:rPr>
              <a:t> </a:t>
            </a:r>
            <a:r>
              <a:rPr sz="1700" b="1" dirty="0">
                <a:latin typeface="Times New Roman"/>
                <a:cs typeface="Times New Roman"/>
              </a:rPr>
              <a:t>and</a:t>
            </a:r>
            <a:r>
              <a:rPr sz="1700" b="1" spc="-65" dirty="0">
                <a:latin typeface="Times New Roman"/>
                <a:cs typeface="Times New Roman"/>
              </a:rPr>
              <a:t> </a:t>
            </a:r>
            <a:r>
              <a:rPr sz="1700" b="1" spc="-10" dirty="0">
                <a:latin typeface="Times New Roman"/>
                <a:cs typeface="Times New Roman"/>
              </a:rPr>
              <a:t>Description:</a:t>
            </a:r>
            <a:endParaRPr sz="1700" dirty="0">
              <a:latin typeface="Times New Roman"/>
              <a:cs typeface="Times New Roman"/>
            </a:endParaRPr>
          </a:p>
          <a:p>
            <a:pPr marL="22225">
              <a:lnSpc>
                <a:spcPct val="100000"/>
              </a:lnSpc>
              <a:spcBef>
                <a:spcPts val="345"/>
              </a:spcBef>
            </a:pPr>
            <a:r>
              <a:rPr lang="en-US" sz="1200" dirty="0">
                <a:latin typeface="Times New Roman"/>
                <a:cs typeface="Times New Roman"/>
              </a:rPr>
              <a:t>Event Name : College Workshop Registration</a:t>
            </a:r>
          </a:p>
          <a:p>
            <a:pPr marL="22225">
              <a:lnSpc>
                <a:spcPct val="100000"/>
              </a:lnSpc>
              <a:spcBef>
                <a:spcPts val="345"/>
              </a:spcBef>
            </a:pPr>
            <a:r>
              <a:rPr lang="en-US" sz="1200" dirty="0">
                <a:latin typeface="Times New Roman"/>
                <a:cs typeface="Times New Roman"/>
              </a:rPr>
              <a:t>Description : This technical seminar is organized to enhance students’ knowledge and skills in programming through interactive sessions on Java and Python.</a:t>
            </a:r>
          </a:p>
        </p:txBody>
      </p:sp>
      <p:sp>
        <p:nvSpPr>
          <p:cNvPr id="12" name="object 12"/>
          <p:cNvSpPr txBox="1"/>
          <p:nvPr/>
        </p:nvSpPr>
        <p:spPr>
          <a:xfrm>
            <a:off x="612777" y="5953658"/>
            <a:ext cx="6467473" cy="3981859"/>
          </a:xfrm>
          <a:prstGeom prst="rect">
            <a:avLst/>
          </a:prstGeom>
        </p:spPr>
        <p:txBody>
          <a:bodyPr vert="horz" wrap="square" lIns="0" tIns="74930" rIns="0" bIns="0" rtlCol="0">
            <a:spAutoFit/>
          </a:bodyPr>
          <a:lstStyle/>
          <a:p>
            <a:pPr marL="12700" lvl="1">
              <a:lnSpc>
                <a:spcPct val="100000"/>
              </a:lnSpc>
              <a:spcBef>
                <a:spcPts val="590"/>
              </a:spcBef>
              <a:buSzPct val="94117"/>
              <a:tabLst>
                <a:tab pos="387985" algn="l"/>
              </a:tabLst>
            </a:pPr>
            <a:r>
              <a:rPr lang="en-US" sz="1700" b="1" dirty="0">
                <a:latin typeface="Times New Roman"/>
                <a:cs typeface="Times New Roman"/>
              </a:rPr>
              <a:t>3.2	</a:t>
            </a:r>
            <a:r>
              <a:rPr sz="1700" b="1" dirty="0">
                <a:latin typeface="Times New Roman"/>
                <a:cs typeface="Times New Roman"/>
              </a:rPr>
              <a:t>Event</a:t>
            </a:r>
            <a:r>
              <a:rPr sz="1700" b="1" spc="-70" dirty="0">
                <a:latin typeface="Times New Roman"/>
                <a:cs typeface="Times New Roman"/>
              </a:rPr>
              <a:t> </a:t>
            </a:r>
            <a:r>
              <a:rPr sz="1700" b="1" dirty="0">
                <a:latin typeface="Times New Roman"/>
                <a:cs typeface="Times New Roman"/>
              </a:rPr>
              <a:t>Information</a:t>
            </a:r>
            <a:r>
              <a:rPr sz="1700" b="1" spc="-65" dirty="0">
                <a:latin typeface="Times New Roman"/>
                <a:cs typeface="Times New Roman"/>
              </a:rPr>
              <a:t> </a:t>
            </a:r>
            <a:r>
              <a:rPr sz="1700" b="1" dirty="0">
                <a:latin typeface="Times New Roman"/>
                <a:cs typeface="Times New Roman"/>
              </a:rPr>
              <a:t>&amp;</a:t>
            </a:r>
            <a:r>
              <a:rPr sz="1700" b="1" spc="-65" dirty="0">
                <a:latin typeface="Times New Roman"/>
                <a:cs typeface="Times New Roman"/>
              </a:rPr>
              <a:t> </a:t>
            </a:r>
            <a:r>
              <a:rPr sz="1700" b="1" dirty="0">
                <a:latin typeface="Times New Roman"/>
                <a:cs typeface="Times New Roman"/>
              </a:rPr>
              <a:t>Registration</a:t>
            </a:r>
            <a:r>
              <a:rPr sz="1700" b="1" spc="-65" dirty="0">
                <a:latin typeface="Times New Roman"/>
                <a:cs typeface="Times New Roman"/>
              </a:rPr>
              <a:t> </a:t>
            </a:r>
            <a:r>
              <a:rPr sz="1700" b="1" dirty="0">
                <a:latin typeface="Times New Roman"/>
                <a:cs typeface="Times New Roman"/>
              </a:rPr>
              <a:t>Form</a:t>
            </a:r>
            <a:r>
              <a:rPr sz="1700" b="1" spc="-65" dirty="0">
                <a:latin typeface="Times New Roman"/>
                <a:cs typeface="Times New Roman"/>
              </a:rPr>
              <a:t> </a:t>
            </a:r>
            <a:r>
              <a:rPr sz="1700" b="1" spc="-10" dirty="0">
                <a:latin typeface="Times New Roman"/>
                <a:cs typeface="Times New Roman"/>
              </a:rPr>
              <a:t>Section:</a:t>
            </a:r>
            <a:endParaRPr sz="1700" dirty="0">
              <a:latin typeface="Times New Roman"/>
              <a:cs typeface="Times New Roman"/>
            </a:endParaRPr>
          </a:p>
          <a:p>
            <a:pPr marL="12700">
              <a:lnSpc>
                <a:spcPct val="100000"/>
              </a:lnSpc>
              <a:spcBef>
                <a:spcPts val="350"/>
              </a:spcBef>
            </a:pPr>
            <a:r>
              <a:rPr lang="en-US" sz="1200" spc="-10" dirty="0">
                <a:latin typeface="Times New Roman"/>
                <a:cs typeface="Times New Roman"/>
              </a:rPr>
              <a:t>The event titled College Workshop Registration will be conducted on 15-03-2026 at Seminar Hall A and includes a registration form to collect participant details such as name, email, phone number, date of birth, gender, selected event (Java Workshop or Python Seminar), mode of participation (Online/Offline), college name, and confirmation of details before submission.</a:t>
            </a:r>
          </a:p>
          <a:p>
            <a:pPr>
              <a:lnSpc>
                <a:spcPct val="100000"/>
              </a:lnSpc>
              <a:spcBef>
                <a:spcPts val="360"/>
              </a:spcBef>
            </a:pPr>
            <a:endParaRPr sz="1200" dirty="0">
              <a:latin typeface="Times New Roman"/>
              <a:cs typeface="Times New Roman"/>
            </a:endParaRPr>
          </a:p>
          <a:p>
            <a:pPr marL="12700">
              <a:lnSpc>
                <a:spcPct val="100000"/>
              </a:lnSpc>
            </a:pPr>
            <a:r>
              <a:rPr sz="1200" dirty="0">
                <a:latin typeface="Times New Roman"/>
                <a:cs typeface="Times New Roman"/>
              </a:rPr>
              <a:t>This</a:t>
            </a:r>
            <a:r>
              <a:rPr sz="1200" spc="-30" dirty="0">
                <a:latin typeface="Times New Roman"/>
                <a:cs typeface="Times New Roman"/>
              </a:rPr>
              <a:t> </a:t>
            </a:r>
            <a:r>
              <a:rPr sz="1200" dirty="0">
                <a:latin typeface="Times New Roman"/>
                <a:cs typeface="Times New Roman"/>
              </a:rPr>
              <a:t>section</a:t>
            </a:r>
            <a:r>
              <a:rPr sz="1200" spc="-30" dirty="0">
                <a:latin typeface="Times New Roman"/>
                <a:cs typeface="Times New Roman"/>
              </a:rPr>
              <a:t> </a:t>
            </a:r>
            <a:r>
              <a:rPr sz="1200" spc="-10" dirty="0">
                <a:latin typeface="Times New Roman"/>
                <a:cs typeface="Times New Roman"/>
              </a:rPr>
              <a:t>includes:</a:t>
            </a:r>
            <a:endParaRPr sz="1200" dirty="0">
              <a:latin typeface="Times New Roman"/>
              <a:cs typeface="Times New Roman"/>
            </a:endParaRPr>
          </a:p>
          <a:p>
            <a:pPr marL="287655" lvl="2" indent="-180340">
              <a:lnSpc>
                <a:spcPct val="100000"/>
              </a:lnSpc>
              <a:spcBef>
                <a:spcPts val="1140"/>
              </a:spcBef>
              <a:buFont typeface="Arial"/>
              <a:buChar char="●"/>
              <a:tabLst>
                <a:tab pos="287655" algn="l"/>
              </a:tabLst>
            </a:pPr>
            <a:r>
              <a:rPr sz="1200" dirty="0">
                <a:latin typeface="Times New Roman"/>
                <a:cs typeface="Times New Roman"/>
              </a:rPr>
              <a:t>Event</a:t>
            </a:r>
            <a:r>
              <a:rPr sz="1200" spc="-40" dirty="0">
                <a:latin typeface="Times New Roman"/>
                <a:cs typeface="Times New Roman"/>
              </a:rPr>
              <a:t> </a:t>
            </a:r>
            <a:r>
              <a:rPr sz="1200" spc="-10" dirty="0">
                <a:latin typeface="Times New Roman"/>
                <a:cs typeface="Times New Roman"/>
              </a:rPr>
              <a:t>Information</a:t>
            </a:r>
            <a:endParaRPr sz="1200" dirty="0">
              <a:latin typeface="Times New Roman"/>
              <a:cs typeface="Times New Roman"/>
            </a:endParaRPr>
          </a:p>
          <a:p>
            <a:pPr marL="287655" lvl="2" indent="-180340">
              <a:lnSpc>
                <a:spcPct val="100000"/>
              </a:lnSpc>
              <a:spcBef>
                <a:spcPts val="1320"/>
              </a:spcBef>
              <a:buFont typeface="Arial"/>
              <a:buChar char="●"/>
              <a:tabLst>
                <a:tab pos="287655" algn="l"/>
              </a:tabLst>
            </a:pPr>
            <a:r>
              <a:rPr sz="1200" spc="-10" dirty="0">
                <a:latin typeface="Times New Roman"/>
                <a:cs typeface="Times New Roman"/>
              </a:rPr>
              <a:t>Registration</a:t>
            </a:r>
            <a:r>
              <a:rPr sz="1200" spc="40" dirty="0">
                <a:latin typeface="Times New Roman"/>
                <a:cs typeface="Times New Roman"/>
              </a:rPr>
              <a:t> </a:t>
            </a:r>
            <a:r>
              <a:rPr sz="1200" spc="-20" dirty="0">
                <a:latin typeface="Times New Roman"/>
                <a:cs typeface="Times New Roman"/>
              </a:rPr>
              <a:t>Form</a:t>
            </a:r>
            <a:endParaRPr sz="1200" dirty="0">
              <a:latin typeface="Times New Roman"/>
              <a:cs typeface="Times New Roman"/>
            </a:endParaRPr>
          </a:p>
          <a:p>
            <a:pPr marL="287655" lvl="2" indent="-180340">
              <a:lnSpc>
                <a:spcPct val="100000"/>
              </a:lnSpc>
              <a:spcBef>
                <a:spcPts val="1320"/>
              </a:spcBef>
              <a:buFont typeface="Arial"/>
              <a:buChar char="●"/>
              <a:tabLst>
                <a:tab pos="287655" algn="l"/>
              </a:tabLst>
            </a:pPr>
            <a:r>
              <a:rPr sz="1200" dirty="0">
                <a:latin typeface="Times New Roman"/>
                <a:cs typeface="Times New Roman"/>
              </a:rPr>
              <a:t>Personal</a:t>
            </a:r>
            <a:r>
              <a:rPr sz="1200" spc="-60" dirty="0">
                <a:latin typeface="Times New Roman"/>
                <a:cs typeface="Times New Roman"/>
              </a:rPr>
              <a:t> </a:t>
            </a:r>
            <a:r>
              <a:rPr sz="1200" spc="-10" dirty="0">
                <a:latin typeface="Times New Roman"/>
                <a:cs typeface="Times New Roman"/>
              </a:rPr>
              <a:t>Information</a:t>
            </a:r>
            <a:endParaRPr sz="1200" dirty="0">
              <a:latin typeface="Times New Roman"/>
              <a:cs typeface="Times New Roman"/>
            </a:endParaRPr>
          </a:p>
          <a:p>
            <a:pPr marL="287655" lvl="2" indent="-180340">
              <a:lnSpc>
                <a:spcPct val="100000"/>
              </a:lnSpc>
              <a:spcBef>
                <a:spcPts val="1320"/>
              </a:spcBef>
              <a:buFont typeface="Arial"/>
              <a:buChar char="●"/>
              <a:tabLst>
                <a:tab pos="287655" algn="l"/>
              </a:tabLst>
            </a:pPr>
            <a:r>
              <a:rPr sz="1200" dirty="0">
                <a:latin typeface="Times New Roman"/>
                <a:cs typeface="Times New Roman"/>
              </a:rPr>
              <a:t>Event</a:t>
            </a:r>
            <a:r>
              <a:rPr sz="1200" spc="-40" dirty="0">
                <a:latin typeface="Times New Roman"/>
                <a:cs typeface="Times New Roman"/>
              </a:rPr>
              <a:t> </a:t>
            </a:r>
            <a:r>
              <a:rPr sz="1200" spc="-10" dirty="0">
                <a:latin typeface="Times New Roman"/>
                <a:cs typeface="Times New Roman"/>
              </a:rPr>
              <a:t>Selection</a:t>
            </a:r>
            <a:endParaRPr sz="1200" dirty="0">
              <a:latin typeface="Times New Roman"/>
              <a:cs typeface="Times New Roman"/>
            </a:endParaRPr>
          </a:p>
          <a:p>
            <a:pPr marL="287655" lvl="2" indent="-180340">
              <a:lnSpc>
                <a:spcPct val="100000"/>
              </a:lnSpc>
              <a:spcBef>
                <a:spcPts val="1320"/>
              </a:spcBef>
              <a:buFont typeface="Arial"/>
              <a:buChar char="●"/>
              <a:tabLst>
                <a:tab pos="287655" algn="l"/>
              </a:tabLst>
            </a:pPr>
            <a:r>
              <a:rPr sz="1200" spc="-10" dirty="0">
                <a:latin typeface="Times New Roman"/>
                <a:cs typeface="Times New Roman"/>
              </a:rPr>
              <a:t>Additional</a:t>
            </a:r>
            <a:r>
              <a:rPr sz="1200" spc="5" dirty="0">
                <a:latin typeface="Times New Roman"/>
                <a:cs typeface="Times New Roman"/>
              </a:rPr>
              <a:t> </a:t>
            </a:r>
            <a:r>
              <a:rPr sz="1200" spc="-10" dirty="0">
                <a:latin typeface="Times New Roman"/>
                <a:cs typeface="Times New Roman"/>
              </a:rPr>
              <a:t>Details</a:t>
            </a:r>
            <a:endParaRPr sz="1200" dirty="0">
              <a:latin typeface="Times New Roman"/>
              <a:cs typeface="Times New Roman"/>
            </a:endParaRPr>
          </a:p>
          <a:p>
            <a:pPr marL="287655" lvl="2" indent="-180340">
              <a:lnSpc>
                <a:spcPct val="100000"/>
              </a:lnSpc>
              <a:spcBef>
                <a:spcPts val="1320"/>
              </a:spcBef>
              <a:buFont typeface="Arial"/>
              <a:buChar char="●"/>
              <a:tabLst>
                <a:tab pos="287655" algn="l"/>
              </a:tabLst>
            </a:pPr>
            <a:r>
              <a:rPr sz="1200" spc="-10" dirty="0">
                <a:latin typeface="Times New Roman"/>
                <a:cs typeface="Times New Roman"/>
              </a:rPr>
              <a:t>Declaration</a:t>
            </a:r>
            <a:endParaRPr sz="1200" dirty="0">
              <a:latin typeface="Times New Roman"/>
              <a:cs typeface="Times New Roman"/>
            </a:endParaRPr>
          </a:p>
          <a:p>
            <a:pPr marL="287655" lvl="2" indent="-180340">
              <a:lnSpc>
                <a:spcPct val="100000"/>
              </a:lnSpc>
              <a:spcBef>
                <a:spcPts val="1320"/>
              </a:spcBef>
              <a:buFont typeface="Arial"/>
              <a:buChar char="●"/>
              <a:tabLst>
                <a:tab pos="287655" algn="l"/>
              </a:tabLst>
            </a:pPr>
            <a:r>
              <a:rPr sz="1200" dirty="0">
                <a:latin typeface="Times New Roman"/>
                <a:cs typeface="Times New Roman"/>
              </a:rPr>
              <a:t>Form</a:t>
            </a:r>
            <a:r>
              <a:rPr sz="1200" spc="-15" dirty="0">
                <a:latin typeface="Times New Roman"/>
                <a:cs typeface="Times New Roman"/>
              </a:rPr>
              <a:t> </a:t>
            </a:r>
            <a:r>
              <a:rPr sz="1200" spc="-10" dirty="0">
                <a:latin typeface="Times New Roman"/>
                <a:cs typeface="Times New Roman"/>
              </a:rPr>
              <a:t>Controls</a:t>
            </a:r>
            <a:endParaRPr sz="1200" dirty="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660400" y="3508438"/>
            <a:ext cx="6502400" cy="0"/>
          </a:xfrm>
          <a:custGeom>
            <a:avLst/>
            <a:gdLst/>
            <a:ahLst/>
            <a:cxnLst/>
            <a:rect l="l" t="t" r="r" b="b"/>
            <a:pathLst>
              <a:path w="6502400">
                <a:moveTo>
                  <a:pt x="0" y="0"/>
                </a:moveTo>
                <a:lnTo>
                  <a:pt x="6502400" y="0"/>
                </a:lnTo>
              </a:path>
            </a:pathLst>
          </a:custGeom>
          <a:ln w="12698">
            <a:solidFill>
              <a:srgbClr val="868686"/>
            </a:solidFill>
          </a:ln>
        </p:spPr>
        <p:txBody>
          <a:bodyPr wrap="square" lIns="0" tIns="0" rIns="0" bIns="0" rtlCol="0"/>
          <a:lstStyle/>
          <a:p>
            <a:endParaRPr/>
          </a:p>
        </p:txBody>
      </p:sp>
      <p:sp>
        <p:nvSpPr>
          <p:cNvPr id="3" name="object 3"/>
          <p:cNvSpPr/>
          <p:nvPr/>
        </p:nvSpPr>
        <p:spPr>
          <a:xfrm>
            <a:off x="660400" y="6563538"/>
            <a:ext cx="6502400" cy="0"/>
          </a:xfrm>
          <a:custGeom>
            <a:avLst/>
            <a:gdLst/>
            <a:ahLst/>
            <a:cxnLst/>
            <a:rect l="l" t="t" r="r" b="b"/>
            <a:pathLst>
              <a:path w="6502400">
                <a:moveTo>
                  <a:pt x="0" y="0"/>
                </a:moveTo>
                <a:lnTo>
                  <a:pt x="6502400" y="0"/>
                </a:lnTo>
              </a:path>
            </a:pathLst>
          </a:custGeom>
          <a:ln w="12698">
            <a:solidFill>
              <a:srgbClr val="868686"/>
            </a:solidFill>
          </a:ln>
        </p:spPr>
        <p:txBody>
          <a:bodyPr wrap="square" lIns="0" tIns="0" rIns="0" bIns="0" rtlCol="0"/>
          <a:lstStyle/>
          <a:p>
            <a:endParaRPr/>
          </a:p>
        </p:txBody>
      </p:sp>
      <p:pic>
        <p:nvPicPr>
          <p:cNvPr id="4" name="object 4"/>
          <p:cNvPicPr/>
          <p:nvPr/>
        </p:nvPicPr>
        <p:blipFill>
          <a:blip r:embed="rId2" cstate="print"/>
          <a:stretch>
            <a:fillRect/>
          </a:stretch>
        </p:blipFill>
        <p:spPr>
          <a:xfrm>
            <a:off x="683259" y="361695"/>
            <a:ext cx="1490827" cy="370331"/>
          </a:xfrm>
          <a:prstGeom prst="rect">
            <a:avLst/>
          </a:prstGeom>
        </p:spPr>
      </p:pic>
      <p:pic>
        <p:nvPicPr>
          <p:cNvPr id="5" name="object 5"/>
          <p:cNvPicPr/>
          <p:nvPr/>
        </p:nvPicPr>
        <p:blipFill>
          <a:blip r:embed="rId3" cstate="print"/>
          <a:stretch>
            <a:fillRect/>
          </a:stretch>
        </p:blipFill>
        <p:spPr>
          <a:xfrm>
            <a:off x="2569210" y="342900"/>
            <a:ext cx="1001571" cy="566927"/>
          </a:xfrm>
          <a:prstGeom prst="rect">
            <a:avLst/>
          </a:prstGeom>
        </p:spPr>
      </p:pic>
      <p:pic>
        <p:nvPicPr>
          <p:cNvPr id="6" name="object 6"/>
          <p:cNvPicPr/>
          <p:nvPr/>
        </p:nvPicPr>
        <p:blipFill>
          <a:blip r:embed="rId4" cstate="print"/>
          <a:stretch>
            <a:fillRect/>
          </a:stretch>
        </p:blipFill>
        <p:spPr>
          <a:xfrm>
            <a:off x="4093209" y="411986"/>
            <a:ext cx="991428" cy="434340"/>
          </a:xfrm>
          <a:prstGeom prst="rect">
            <a:avLst/>
          </a:prstGeom>
        </p:spPr>
      </p:pic>
      <p:pic>
        <p:nvPicPr>
          <p:cNvPr id="7" name="object 7"/>
          <p:cNvPicPr/>
          <p:nvPr/>
        </p:nvPicPr>
        <p:blipFill>
          <a:blip r:embed="rId5" cstate="print"/>
          <a:stretch>
            <a:fillRect/>
          </a:stretch>
        </p:blipFill>
        <p:spPr>
          <a:xfrm>
            <a:off x="5883909" y="431291"/>
            <a:ext cx="1082475" cy="402335"/>
          </a:xfrm>
          <a:prstGeom prst="rect">
            <a:avLst/>
          </a:prstGeom>
        </p:spPr>
      </p:pic>
      <p:sp>
        <p:nvSpPr>
          <p:cNvPr id="8" name="object 8"/>
          <p:cNvSpPr txBox="1"/>
          <p:nvPr/>
        </p:nvSpPr>
        <p:spPr>
          <a:xfrm>
            <a:off x="765809" y="1235392"/>
            <a:ext cx="2668270" cy="2009775"/>
          </a:xfrm>
          <a:prstGeom prst="rect">
            <a:avLst/>
          </a:prstGeom>
        </p:spPr>
        <p:txBody>
          <a:bodyPr vert="horz" wrap="square" lIns="0" tIns="12700" rIns="0" bIns="0" rtlCol="0">
            <a:spAutoFit/>
          </a:bodyPr>
          <a:lstStyle/>
          <a:p>
            <a:pPr marL="12700">
              <a:lnSpc>
                <a:spcPct val="100000"/>
              </a:lnSpc>
              <a:spcBef>
                <a:spcPts val="100"/>
              </a:spcBef>
            </a:pPr>
            <a:r>
              <a:rPr sz="1300" b="1" spc="-10" dirty="0">
                <a:latin typeface="Times New Roman"/>
                <a:cs typeface="Times New Roman"/>
              </a:rPr>
              <a:t>Sample:</a:t>
            </a:r>
            <a:endParaRPr sz="1300">
              <a:latin typeface="Times New Roman"/>
              <a:cs typeface="Times New Roman"/>
            </a:endParaRPr>
          </a:p>
          <a:p>
            <a:pPr marL="79375" marR="5080">
              <a:lnSpc>
                <a:spcPct val="192400"/>
              </a:lnSpc>
              <a:spcBef>
                <a:spcPts val="409"/>
              </a:spcBef>
            </a:pPr>
            <a:r>
              <a:rPr sz="1200" b="1" spc="-10" dirty="0">
                <a:latin typeface="Times New Roman"/>
                <a:cs typeface="Times New Roman"/>
              </a:rPr>
              <a:t>Registration</a:t>
            </a:r>
            <a:r>
              <a:rPr sz="1200" b="1" spc="-45" dirty="0">
                <a:latin typeface="Times New Roman"/>
                <a:cs typeface="Times New Roman"/>
              </a:rPr>
              <a:t> </a:t>
            </a:r>
            <a:r>
              <a:rPr sz="1200" b="1" dirty="0">
                <a:latin typeface="Times New Roman"/>
                <a:cs typeface="Times New Roman"/>
              </a:rPr>
              <a:t>Form</a:t>
            </a:r>
            <a:r>
              <a:rPr sz="1200" b="1" spc="-45" dirty="0">
                <a:latin typeface="Times New Roman"/>
                <a:cs typeface="Times New Roman"/>
              </a:rPr>
              <a:t> </a:t>
            </a:r>
            <a:r>
              <a:rPr sz="1200" b="1" dirty="0">
                <a:latin typeface="Times New Roman"/>
                <a:cs typeface="Times New Roman"/>
              </a:rPr>
              <a:t>–</a:t>
            </a:r>
            <a:r>
              <a:rPr sz="1200" b="1" spc="-40" dirty="0">
                <a:latin typeface="Times New Roman"/>
                <a:cs typeface="Times New Roman"/>
              </a:rPr>
              <a:t> </a:t>
            </a:r>
            <a:r>
              <a:rPr sz="1200" b="1" dirty="0">
                <a:latin typeface="Times New Roman"/>
                <a:cs typeface="Times New Roman"/>
              </a:rPr>
              <a:t>Sample</a:t>
            </a:r>
            <a:r>
              <a:rPr sz="1200" b="1" spc="-45" dirty="0">
                <a:latin typeface="Times New Roman"/>
                <a:cs typeface="Times New Roman"/>
              </a:rPr>
              <a:t> </a:t>
            </a:r>
            <a:r>
              <a:rPr sz="1200" b="1" spc="-10" dirty="0">
                <a:latin typeface="Times New Roman"/>
                <a:cs typeface="Times New Roman"/>
              </a:rPr>
              <a:t>Filled</a:t>
            </a:r>
            <a:r>
              <a:rPr sz="1200" b="1" spc="-40" dirty="0">
                <a:latin typeface="Times New Roman"/>
                <a:cs typeface="Times New Roman"/>
              </a:rPr>
              <a:t> </a:t>
            </a:r>
            <a:r>
              <a:rPr sz="1200" b="1" spc="-20" dirty="0">
                <a:latin typeface="Times New Roman"/>
                <a:cs typeface="Times New Roman"/>
              </a:rPr>
              <a:t>Data </a:t>
            </a:r>
            <a:r>
              <a:rPr sz="1200" b="1" dirty="0">
                <a:latin typeface="Times New Roman"/>
                <a:cs typeface="Times New Roman"/>
              </a:rPr>
              <a:t>Personal</a:t>
            </a:r>
            <a:r>
              <a:rPr sz="1200" b="1" spc="-40" dirty="0">
                <a:latin typeface="Times New Roman"/>
                <a:cs typeface="Times New Roman"/>
              </a:rPr>
              <a:t> </a:t>
            </a:r>
            <a:r>
              <a:rPr sz="1200" b="1" spc="-10" dirty="0">
                <a:latin typeface="Times New Roman"/>
                <a:cs typeface="Times New Roman"/>
              </a:rPr>
              <a:t>Information</a:t>
            </a:r>
            <a:endParaRPr sz="1200">
              <a:latin typeface="Times New Roman"/>
              <a:cs typeface="Times New Roman"/>
            </a:endParaRPr>
          </a:p>
          <a:p>
            <a:pPr marL="507365" indent="-189865">
              <a:lnSpc>
                <a:spcPts val="1395"/>
              </a:lnSpc>
              <a:spcBef>
                <a:spcPts val="1185"/>
              </a:spcBef>
              <a:buFont typeface="Arial"/>
              <a:buChar char="●"/>
              <a:tabLst>
                <a:tab pos="507365" algn="l"/>
              </a:tabLst>
            </a:pPr>
            <a:r>
              <a:rPr sz="1200" b="1" dirty="0">
                <a:latin typeface="Times New Roman"/>
                <a:cs typeface="Times New Roman"/>
              </a:rPr>
              <a:t>Name:</a:t>
            </a:r>
            <a:r>
              <a:rPr sz="1200" b="1" spc="-50" dirty="0">
                <a:latin typeface="Times New Roman"/>
                <a:cs typeface="Times New Roman"/>
              </a:rPr>
              <a:t> </a:t>
            </a:r>
            <a:r>
              <a:rPr sz="1200" spc="-25" dirty="0">
                <a:latin typeface="Times New Roman"/>
                <a:cs typeface="Times New Roman"/>
              </a:rPr>
              <a:t>XYZ</a:t>
            </a:r>
            <a:endParaRPr sz="1200">
              <a:latin typeface="Times New Roman"/>
              <a:cs typeface="Times New Roman"/>
            </a:endParaRPr>
          </a:p>
          <a:p>
            <a:pPr marL="507365" indent="-189865">
              <a:lnSpc>
                <a:spcPts val="1365"/>
              </a:lnSpc>
              <a:buFont typeface="Arial"/>
              <a:buChar char="●"/>
              <a:tabLst>
                <a:tab pos="507365" algn="l"/>
              </a:tabLst>
            </a:pPr>
            <a:r>
              <a:rPr sz="1200" b="1" dirty="0">
                <a:latin typeface="Times New Roman"/>
                <a:cs typeface="Times New Roman"/>
              </a:rPr>
              <a:t>Email:</a:t>
            </a:r>
            <a:r>
              <a:rPr sz="1200" b="1" spc="-30" dirty="0">
                <a:latin typeface="Times New Roman"/>
                <a:cs typeface="Times New Roman"/>
              </a:rPr>
              <a:t> </a:t>
            </a:r>
            <a:r>
              <a:rPr sz="1200" spc="-10" dirty="0">
                <a:latin typeface="Times New Roman"/>
                <a:cs typeface="Times New Roman"/>
                <a:hlinkClick r:id="rId6"/>
              </a:rPr>
              <a:t>xyz@gmail.com</a:t>
            </a:r>
            <a:endParaRPr sz="1200">
              <a:latin typeface="Times New Roman"/>
              <a:cs typeface="Times New Roman"/>
            </a:endParaRPr>
          </a:p>
          <a:p>
            <a:pPr marL="507365" indent="-189865">
              <a:lnSpc>
                <a:spcPts val="1380"/>
              </a:lnSpc>
              <a:buFont typeface="Arial"/>
              <a:buChar char="●"/>
              <a:tabLst>
                <a:tab pos="507365" algn="l"/>
              </a:tabLst>
            </a:pPr>
            <a:r>
              <a:rPr sz="1200" b="1" dirty="0">
                <a:latin typeface="Times New Roman"/>
                <a:cs typeface="Times New Roman"/>
              </a:rPr>
              <a:t>Phone</a:t>
            </a:r>
            <a:r>
              <a:rPr sz="1200" b="1" spc="-30" dirty="0">
                <a:latin typeface="Times New Roman"/>
                <a:cs typeface="Times New Roman"/>
              </a:rPr>
              <a:t> </a:t>
            </a:r>
            <a:r>
              <a:rPr sz="1200" b="1" dirty="0">
                <a:latin typeface="Times New Roman"/>
                <a:cs typeface="Times New Roman"/>
              </a:rPr>
              <a:t>Number:</a:t>
            </a:r>
            <a:r>
              <a:rPr sz="1200" b="1" spc="-20" dirty="0">
                <a:latin typeface="Times New Roman"/>
                <a:cs typeface="Times New Roman"/>
              </a:rPr>
              <a:t> </a:t>
            </a:r>
            <a:r>
              <a:rPr sz="1200" spc="-10" dirty="0">
                <a:latin typeface="Times New Roman"/>
                <a:cs typeface="Times New Roman"/>
              </a:rPr>
              <a:t>9876543210</a:t>
            </a:r>
            <a:endParaRPr sz="1200">
              <a:latin typeface="Times New Roman"/>
              <a:cs typeface="Times New Roman"/>
            </a:endParaRPr>
          </a:p>
          <a:p>
            <a:pPr marL="507365" indent="-189865">
              <a:lnSpc>
                <a:spcPts val="1380"/>
              </a:lnSpc>
              <a:buFont typeface="Arial"/>
              <a:buChar char="●"/>
              <a:tabLst>
                <a:tab pos="507365" algn="l"/>
              </a:tabLst>
            </a:pPr>
            <a:r>
              <a:rPr sz="1200" b="1" dirty="0">
                <a:latin typeface="Times New Roman"/>
                <a:cs typeface="Times New Roman"/>
              </a:rPr>
              <a:t>Date</a:t>
            </a:r>
            <a:r>
              <a:rPr sz="1200" b="1" spc="-25" dirty="0">
                <a:latin typeface="Times New Roman"/>
                <a:cs typeface="Times New Roman"/>
              </a:rPr>
              <a:t> </a:t>
            </a:r>
            <a:r>
              <a:rPr sz="1200" b="1" dirty="0">
                <a:latin typeface="Times New Roman"/>
                <a:cs typeface="Times New Roman"/>
              </a:rPr>
              <a:t>of</a:t>
            </a:r>
            <a:r>
              <a:rPr sz="1200" b="1" spc="-25" dirty="0">
                <a:latin typeface="Times New Roman"/>
                <a:cs typeface="Times New Roman"/>
              </a:rPr>
              <a:t> </a:t>
            </a:r>
            <a:r>
              <a:rPr sz="1200" b="1" dirty="0">
                <a:latin typeface="Times New Roman"/>
                <a:cs typeface="Times New Roman"/>
              </a:rPr>
              <a:t>Birth:</a:t>
            </a:r>
            <a:r>
              <a:rPr sz="1200" b="1" spc="-25" dirty="0">
                <a:latin typeface="Times New Roman"/>
                <a:cs typeface="Times New Roman"/>
              </a:rPr>
              <a:t> </a:t>
            </a:r>
            <a:r>
              <a:rPr sz="1200" spc="-10" dirty="0">
                <a:latin typeface="Times New Roman"/>
                <a:cs typeface="Times New Roman"/>
              </a:rPr>
              <a:t>12/02/2006</a:t>
            </a:r>
            <a:endParaRPr sz="1200">
              <a:latin typeface="Times New Roman"/>
              <a:cs typeface="Times New Roman"/>
            </a:endParaRPr>
          </a:p>
          <a:p>
            <a:pPr marL="506730" indent="-189865">
              <a:lnSpc>
                <a:spcPts val="1410"/>
              </a:lnSpc>
              <a:buFont typeface="Arial"/>
              <a:buChar char="●"/>
              <a:tabLst>
                <a:tab pos="506730" algn="l"/>
              </a:tabLst>
            </a:pPr>
            <a:r>
              <a:rPr sz="1200" b="1" dirty="0">
                <a:latin typeface="Times New Roman"/>
                <a:cs typeface="Times New Roman"/>
              </a:rPr>
              <a:t>Gender:</a:t>
            </a:r>
            <a:r>
              <a:rPr sz="1200" b="1" spc="-40" dirty="0">
                <a:latin typeface="Times New Roman"/>
                <a:cs typeface="Times New Roman"/>
              </a:rPr>
              <a:t> </a:t>
            </a:r>
            <a:r>
              <a:rPr sz="1200" spc="-10" dirty="0">
                <a:latin typeface="Times New Roman"/>
                <a:cs typeface="Times New Roman"/>
              </a:rPr>
              <a:t>Female</a:t>
            </a:r>
            <a:endParaRPr sz="1200">
              <a:latin typeface="Times New Roman"/>
              <a:cs typeface="Times New Roman"/>
            </a:endParaRPr>
          </a:p>
        </p:txBody>
      </p:sp>
      <p:sp>
        <p:nvSpPr>
          <p:cNvPr id="9" name="object 9"/>
          <p:cNvSpPr txBox="1"/>
          <p:nvPr/>
        </p:nvSpPr>
        <p:spPr>
          <a:xfrm>
            <a:off x="612772" y="3759478"/>
            <a:ext cx="6550027" cy="1625766"/>
          </a:xfrm>
          <a:prstGeom prst="rect">
            <a:avLst/>
          </a:prstGeom>
        </p:spPr>
        <p:txBody>
          <a:bodyPr vert="horz" wrap="square" lIns="0" tIns="12700" rIns="0" bIns="0" rtlCol="0">
            <a:spAutoFit/>
          </a:bodyPr>
          <a:lstStyle/>
          <a:p>
            <a:pPr marL="12700">
              <a:lnSpc>
                <a:spcPct val="100000"/>
              </a:lnSpc>
              <a:spcBef>
                <a:spcPts val="100"/>
              </a:spcBef>
            </a:pPr>
            <a:r>
              <a:rPr sz="1600" b="1" dirty="0">
                <a:latin typeface="Times New Roman"/>
                <a:cs typeface="Times New Roman"/>
              </a:rPr>
              <a:t>3.3.</a:t>
            </a:r>
            <a:r>
              <a:rPr sz="1600" b="1" spc="200" dirty="0">
                <a:latin typeface="Times New Roman"/>
                <a:cs typeface="Times New Roman"/>
              </a:rPr>
              <a:t> </a:t>
            </a:r>
            <a:r>
              <a:rPr sz="1700" b="1" spc="-10" dirty="0">
                <a:latin typeface="Times New Roman"/>
                <a:cs typeface="Times New Roman"/>
              </a:rPr>
              <a:t>Registered</a:t>
            </a:r>
            <a:r>
              <a:rPr sz="1700" b="1" spc="-45" dirty="0">
                <a:latin typeface="Times New Roman"/>
                <a:cs typeface="Times New Roman"/>
              </a:rPr>
              <a:t> </a:t>
            </a:r>
            <a:r>
              <a:rPr sz="1700" b="1" spc="-10" dirty="0">
                <a:latin typeface="Times New Roman"/>
                <a:cs typeface="Times New Roman"/>
              </a:rPr>
              <a:t>Participants</a:t>
            </a:r>
            <a:r>
              <a:rPr sz="1700" b="1" spc="-40" dirty="0">
                <a:latin typeface="Times New Roman"/>
                <a:cs typeface="Times New Roman"/>
              </a:rPr>
              <a:t> </a:t>
            </a:r>
            <a:r>
              <a:rPr sz="1700" b="1" spc="-10" dirty="0">
                <a:latin typeface="Times New Roman"/>
                <a:cs typeface="Times New Roman"/>
              </a:rPr>
              <a:t>Section</a:t>
            </a:r>
            <a:endParaRPr sz="1700" dirty="0">
              <a:latin typeface="Times New Roman"/>
              <a:cs typeface="Times New Roman"/>
            </a:endParaRPr>
          </a:p>
          <a:p>
            <a:pPr marL="50800">
              <a:lnSpc>
                <a:spcPct val="100000"/>
              </a:lnSpc>
              <a:spcBef>
                <a:spcPts val="1145"/>
              </a:spcBef>
            </a:pPr>
            <a:r>
              <a:rPr lang="en-US" sz="1200" dirty="0">
                <a:latin typeface="Times New Roman"/>
                <a:cs typeface="Times New Roman"/>
              </a:rPr>
              <a:t>A table is created to display the details of registered participants, including their Name, Email, Phone Number, Selected Event, and Mode of Participation, ensuring the information is clearly organized and easy to view.</a:t>
            </a:r>
          </a:p>
          <a:p>
            <a:pPr marL="88265" marR="1478280">
              <a:lnSpc>
                <a:spcPct val="178900"/>
              </a:lnSpc>
              <a:spcBef>
                <a:spcPts val="5"/>
              </a:spcBef>
            </a:pPr>
            <a:r>
              <a:rPr sz="1200" dirty="0">
                <a:latin typeface="Times New Roman"/>
                <a:cs typeface="Times New Roman"/>
              </a:rPr>
              <a:t>|</a:t>
            </a:r>
            <a:r>
              <a:rPr sz="1200" spc="-40" dirty="0">
                <a:latin typeface="Times New Roman"/>
                <a:cs typeface="Times New Roman"/>
              </a:rPr>
              <a:t> </a:t>
            </a:r>
            <a:r>
              <a:rPr sz="1200" dirty="0">
                <a:latin typeface="Times New Roman"/>
                <a:cs typeface="Times New Roman"/>
              </a:rPr>
              <a:t>Name</a:t>
            </a:r>
            <a:r>
              <a:rPr sz="1200" spc="-35" dirty="0">
                <a:latin typeface="Times New Roman"/>
                <a:cs typeface="Times New Roman"/>
              </a:rPr>
              <a:t> </a:t>
            </a:r>
            <a:r>
              <a:rPr sz="1200" dirty="0">
                <a:latin typeface="Times New Roman"/>
                <a:cs typeface="Times New Roman"/>
              </a:rPr>
              <a:t>|</a:t>
            </a:r>
            <a:r>
              <a:rPr sz="1200" spc="-40" dirty="0">
                <a:latin typeface="Times New Roman"/>
                <a:cs typeface="Times New Roman"/>
              </a:rPr>
              <a:t> </a:t>
            </a:r>
            <a:r>
              <a:rPr sz="1200" dirty="0">
                <a:latin typeface="Times New Roman"/>
                <a:cs typeface="Times New Roman"/>
              </a:rPr>
              <a:t>Email</a:t>
            </a:r>
            <a:r>
              <a:rPr sz="1200" spc="-35" dirty="0">
                <a:latin typeface="Times New Roman"/>
                <a:cs typeface="Times New Roman"/>
              </a:rPr>
              <a:t> </a:t>
            </a:r>
            <a:r>
              <a:rPr sz="1200" dirty="0">
                <a:latin typeface="Times New Roman"/>
                <a:cs typeface="Times New Roman"/>
              </a:rPr>
              <a:t>|</a:t>
            </a:r>
            <a:r>
              <a:rPr sz="1200" spc="-40" dirty="0">
                <a:latin typeface="Times New Roman"/>
                <a:cs typeface="Times New Roman"/>
              </a:rPr>
              <a:t> </a:t>
            </a:r>
            <a:r>
              <a:rPr sz="1200" dirty="0">
                <a:latin typeface="Times New Roman"/>
                <a:cs typeface="Times New Roman"/>
              </a:rPr>
              <a:t>Phone</a:t>
            </a:r>
            <a:r>
              <a:rPr sz="1200" spc="-35" dirty="0">
                <a:latin typeface="Times New Roman"/>
                <a:cs typeface="Times New Roman"/>
              </a:rPr>
              <a:t> </a:t>
            </a:r>
            <a:r>
              <a:rPr sz="1200" dirty="0">
                <a:latin typeface="Times New Roman"/>
                <a:cs typeface="Times New Roman"/>
              </a:rPr>
              <a:t>|</a:t>
            </a:r>
            <a:r>
              <a:rPr sz="1200" spc="-40" dirty="0">
                <a:latin typeface="Times New Roman"/>
                <a:cs typeface="Times New Roman"/>
              </a:rPr>
              <a:t> </a:t>
            </a:r>
            <a:r>
              <a:rPr sz="1200" dirty="0">
                <a:latin typeface="Times New Roman"/>
                <a:cs typeface="Times New Roman"/>
              </a:rPr>
              <a:t>Event</a:t>
            </a:r>
            <a:r>
              <a:rPr sz="1200" spc="-35" dirty="0">
                <a:latin typeface="Times New Roman"/>
                <a:cs typeface="Times New Roman"/>
              </a:rPr>
              <a:t> </a:t>
            </a:r>
            <a:r>
              <a:rPr sz="1200" dirty="0">
                <a:latin typeface="Times New Roman"/>
                <a:cs typeface="Times New Roman"/>
              </a:rPr>
              <a:t>|</a:t>
            </a:r>
            <a:r>
              <a:rPr sz="1200" spc="-40" dirty="0">
                <a:latin typeface="Times New Roman"/>
                <a:cs typeface="Times New Roman"/>
              </a:rPr>
              <a:t> </a:t>
            </a:r>
            <a:r>
              <a:rPr sz="1200" dirty="0">
                <a:latin typeface="Times New Roman"/>
                <a:cs typeface="Times New Roman"/>
              </a:rPr>
              <a:t>Mode</a:t>
            </a:r>
            <a:r>
              <a:rPr sz="1200" spc="-35" dirty="0">
                <a:latin typeface="Times New Roman"/>
                <a:cs typeface="Times New Roman"/>
              </a:rPr>
              <a:t> </a:t>
            </a:r>
            <a:r>
              <a:rPr sz="1200" spc="-50" dirty="0">
                <a:latin typeface="Times New Roman"/>
                <a:cs typeface="Times New Roman"/>
              </a:rPr>
              <a:t>| </a:t>
            </a:r>
            <a:r>
              <a:rPr sz="1200" dirty="0">
                <a:latin typeface="Times New Roman"/>
                <a:cs typeface="Times New Roman"/>
              </a:rPr>
              <a:t>(Add</a:t>
            </a:r>
            <a:r>
              <a:rPr sz="1200" spc="-30" dirty="0">
                <a:latin typeface="Times New Roman"/>
                <a:cs typeface="Times New Roman"/>
              </a:rPr>
              <a:t> </a:t>
            </a:r>
            <a:r>
              <a:rPr sz="1200" dirty="0">
                <a:latin typeface="Times New Roman"/>
                <a:cs typeface="Times New Roman"/>
              </a:rPr>
              <a:t>one</a:t>
            </a:r>
            <a:r>
              <a:rPr sz="1200" spc="-25" dirty="0">
                <a:latin typeface="Times New Roman"/>
                <a:cs typeface="Times New Roman"/>
              </a:rPr>
              <a:t> </a:t>
            </a:r>
            <a:r>
              <a:rPr sz="1200" dirty="0">
                <a:latin typeface="Times New Roman"/>
                <a:cs typeface="Times New Roman"/>
              </a:rPr>
              <a:t>sample</a:t>
            </a:r>
            <a:r>
              <a:rPr sz="1200" spc="-30" dirty="0">
                <a:latin typeface="Times New Roman"/>
                <a:cs typeface="Times New Roman"/>
              </a:rPr>
              <a:t> </a:t>
            </a:r>
            <a:r>
              <a:rPr sz="1200" spc="-20" dirty="0">
                <a:latin typeface="Times New Roman"/>
                <a:cs typeface="Times New Roman"/>
              </a:rPr>
              <a:t>row)</a:t>
            </a:r>
            <a:endParaRPr sz="1200" dirty="0">
              <a:latin typeface="Times New Roman"/>
              <a:cs typeface="Times New Roman"/>
            </a:endParaRPr>
          </a:p>
          <a:p>
            <a:pPr marL="88265">
              <a:lnSpc>
                <a:spcPct val="100000"/>
              </a:lnSpc>
              <a:spcBef>
                <a:spcPts val="1135"/>
              </a:spcBef>
            </a:pPr>
            <a:r>
              <a:rPr sz="1200" b="1" spc="-10" dirty="0">
                <a:latin typeface="Times New Roman"/>
                <a:cs typeface="Times New Roman"/>
              </a:rPr>
              <a:t>Sample:</a:t>
            </a:r>
            <a:endParaRPr sz="1200" dirty="0">
              <a:latin typeface="Times New Roman"/>
              <a:cs typeface="Times New Roman"/>
            </a:endParaRPr>
          </a:p>
        </p:txBody>
      </p:sp>
      <p:graphicFrame>
        <p:nvGraphicFramePr>
          <p:cNvPr id="10" name="object 10"/>
          <p:cNvGraphicFramePr>
            <a:graphicFrameLocks noGrp="1"/>
          </p:cNvGraphicFramePr>
          <p:nvPr/>
        </p:nvGraphicFramePr>
        <p:xfrm>
          <a:off x="749300" y="5496750"/>
          <a:ext cx="6413500" cy="595630"/>
        </p:xfrm>
        <a:graphic>
          <a:graphicData uri="http://schemas.openxmlformats.org/drawingml/2006/table">
            <a:tbl>
              <a:tblPr firstRow="1" bandRow="1">
                <a:tableStyleId>{2D5ABB26-0587-4C30-8999-92F81FD0307C}</a:tableStyleId>
              </a:tblPr>
              <a:tblGrid>
                <a:gridCol w="965200">
                  <a:extLst>
                    <a:ext uri="{9D8B030D-6E8A-4147-A177-3AD203B41FA5}">
                      <a16:colId xmlns:a16="http://schemas.microsoft.com/office/drawing/2014/main" val="20000"/>
                    </a:ext>
                  </a:extLst>
                </a:gridCol>
                <a:gridCol w="1358900">
                  <a:extLst>
                    <a:ext uri="{9D8B030D-6E8A-4147-A177-3AD203B41FA5}">
                      <a16:colId xmlns:a16="http://schemas.microsoft.com/office/drawing/2014/main" val="20001"/>
                    </a:ext>
                  </a:extLst>
                </a:gridCol>
                <a:gridCol w="1181100">
                  <a:extLst>
                    <a:ext uri="{9D8B030D-6E8A-4147-A177-3AD203B41FA5}">
                      <a16:colId xmlns:a16="http://schemas.microsoft.com/office/drawing/2014/main" val="20002"/>
                    </a:ext>
                  </a:extLst>
                </a:gridCol>
                <a:gridCol w="1879600">
                  <a:extLst>
                    <a:ext uri="{9D8B030D-6E8A-4147-A177-3AD203B41FA5}">
                      <a16:colId xmlns:a16="http://schemas.microsoft.com/office/drawing/2014/main" val="20003"/>
                    </a:ext>
                  </a:extLst>
                </a:gridCol>
                <a:gridCol w="1028700">
                  <a:extLst>
                    <a:ext uri="{9D8B030D-6E8A-4147-A177-3AD203B41FA5}">
                      <a16:colId xmlns:a16="http://schemas.microsoft.com/office/drawing/2014/main" val="20004"/>
                    </a:ext>
                  </a:extLst>
                </a:gridCol>
              </a:tblGrid>
              <a:tr h="303530">
                <a:tc>
                  <a:txBody>
                    <a:bodyPr/>
                    <a:lstStyle/>
                    <a:p>
                      <a:pPr marL="10160" algn="ctr">
                        <a:lnSpc>
                          <a:spcPct val="100000"/>
                        </a:lnSpc>
                        <a:spcBef>
                          <a:spcPts val="540"/>
                        </a:spcBef>
                      </a:pPr>
                      <a:r>
                        <a:rPr sz="1100" b="1" spc="-20" dirty="0">
                          <a:latin typeface="Times New Roman"/>
                          <a:cs typeface="Times New Roman"/>
                        </a:rPr>
                        <a:t>Name</a:t>
                      </a:r>
                      <a:endParaRPr sz="1100">
                        <a:latin typeface="Times New Roman"/>
                        <a:cs typeface="Times New Roman"/>
                      </a:endParaRPr>
                    </a:p>
                  </a:txBody>
                  <a:tcPr marL="0" marR="0" marT="685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7780" algn="ctr">
                        <a:lnSpc>
                          <a:spcPct val="100000"/>
                        </a:lnSpc>
                        <a:spcBef>
                          <a:spcPts val="540"/>
                        </a:spcBef>
                      </a:pPr>
                      <a:r>
                        <a:rPr sz="1100" b="1" spc="-10" dirty="0">
                          <a:latin typeface="Times New Roman"/>
                          <a:cs typeface="Times New Roman"/>
                        </a:rPr>
                        <a:t>Email</a:t>
                      </a:r>
                      <a:endParaRPr sz="1100">
                        <a:latin typeface="Times New Roman"/>
                        <a:cs typeface="Times New Roman"/>
                      </a:endParaRPr>
                    </a:p>
                  </a:txBody>
                  <a:tcPr marL="0" marR="0" marT="685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1590" algn="ctr">
                        <a:lnSpc>
                          <a:spcPct val="100000"/>
                        </a:lnSpc>
                        <a:spcBef>
                          <a:spcPts val="540"/>
                        </a:spcBef>
                      </a:pPr>
                      <a:r>
                        <a:rPr sz="1100" b="1" spc="-10" dirty="0">
                          <a:latin typeface="Times New Roman"/>
                          <a:cs typeface="Times New Roman"/>
                        </a:rPr>
                        <a:t>Phone</a:t>
                      </a:r>
                      <a:endParaRPr sz="1100">
                        <a:latin typeface="Times New Roman"/>
                        <a:cs typeface="Times New Roman"/>
                      </a:endParaRPr>
                    </a:p>
                  </a:txBody>
                  <a:tcPr marL="0" marR="0" marT="685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7780" algn="ctr">
                        <a:lnSpc>
                          <a:spcPct val="100000"/>
                        </a:lnSpc>
                        <a:spcBef>
                          <a:spcPts val="540"/>
                        </a:spcBef>
                      </a:pPr>
                      <a:r>
                        <a:rPr sz="1100" b="1" spc="-10" dirty="0">
                          <a:latin typeface="Times New Roman"/>
                          <a:cs typeface="Times New Roman"/>
                        </a:rPr>
                        <a:t>Event</a:t>
                      </a:r>
                      <a:endParaRPr sz="1100">
                        <a:latin typeface="Times New Roman"/>
                        <a:cs typeface="Times New Roman"/>
                      </a:endParaRPr>
                    </a:p>
                  </a:txBody>
                  <a:tcPr marL="0" marR="0" marT="685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5875" algn="ctr">
                        <a:lnSpc>
                          <a:spcPct val="100000"/>
                        </a:lnSpc>
                        <a:spcBef>
                          <a:spcPts val="540"/>
                        </a:spcBef>
                      </a:pPr>
                      <a:r>
                        <a:rPr sz="1100" b="1" spc="-20" dirty="0">
                          <a:latin typeface="Times New Roman"/>
                          <a:cs typeface="Times New Roman"/>
                        </a:rPr>
                        <a:t>Mode</a:t>
                      </a:r>
                      <a:endParaRPr sz="1100">
                        <a:latin typeface="Times New Roman"/>
                        <a:cs typeface="Times New Roman"/>
                      </a:endParaRPr>
                    </a:p>
                  </a:txBody>
                  <a:tcPr marL="0" marR="0" marT="685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292100">
                <a:tc>
                  <a:txBody>
                    <a:bodyPr/>
                    <a:lstStyle/>
                    <a:p>
                      <a:pPr marL="10795" algn="ctr">
                        <a:lnSpc>
                          <a:spcPct val="100000"/>
                        </a:lnSpc>
                        <a:spcBef>
                          <a:spcPts val="530"/>
                        </a:spcBef>
                      </a:pPr>
                      <a:r>
                        <a:rPr sz="1100" spc="-25" dirty="0">
                          <a:latin typeface="Times New Roman"/>
                          <a:cs typeface="Times New Roman"/>
                        </a:rPr>
                        <a:t>XYZ</a:t>
                      </a:r>
                      <a:endParaRPr sz="1100">
                        <a:latin typeface="Times New Roman"/>
                        <a:cs typeface="Times New Roman"/>
                      </a:endParaRPr>
                    </a:p>
                  </a:txBody>
                  <a:tcPr marL="0" marR="0" marT="673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8415" algn="ctr">
                        <a:lnSpc>
                          <a:spcPct val="100000"/>
                        </a:lnSpc>
                        <a:spcBef>
                          <a:spcPts val="530"/>
                        </a:spcBef>
                      </a:pPr>
                      <a:r>
                        <a:rPr sz="1100" spc="-10" dirty="0">
                          <a:latin typeface="Times New Roman"/>
                          <a:cs typeface="Times New Roman"/>
                          <a:hlinkClick r:id="rId6"/>
                        </a:rPr>
                        <a:t>xyz@gmail.com</a:t>
                      </a:r>
                      <a:endParaRPr sz="1100">
                        <a:latin typeface="Times New Roman"/>
                        <a:cs typeface="Times New Roman"/>
                      </a:endParaRPr>
                    </a:p>
                  </a:txBody>
                  <a:tcPr marL="0" marR="0" marT="673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0955" algn="ctr">
                        <a:lnSpc>
                          <a:spcPct val="100000"/>
                        </a:lnSpc>
                        <a:spcBef>
                          <a:spcPts val="530"/>
                        </a:spcBef>
                      </a:pPr>
                      <a:r>
                        <a:rPr sz="1100" spc="-10" dirty="0">
                          <a:latin typeface="Times New Roman"/>
                          <a:cs typeface="Times New Roman"/>
                        </a:rPr>
                        <a:t>9876543210</a:t>
                      </a:r>
                      <a:endParaRPr sz="1100">
                        <a:latin typeface="Times New Roman"/>
                        <a:cs typeface="Times New Roman"/>
                      </a:endParaRPr>
                    </a:p>
                  </a:txBody>
                  <a:tcPr marL="0" marR="0" marT="673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6200">
                        <a:lnSpc>
                          <a:spcPct val="100000"/>
                        </a:lnSpc>
                        <a:spcBef>
                          <a:spcPts val="530"/>
                        </a:spcBef>
                      </a:pPr>
                      <a:r>
                        <a:rPr sz="1100" dirty="0">
                          <a:latin typeface="Times New Roman"/>
                          <a:cs typeface="Times New Roman"/>
                        </a:rPr>
                        <a:t>Web</a:t>
                      </a:r>
                      <a:r>
                        <a:rPr sz="1100" spc="-30" dirty="0">
                          <a:latin typeface="Times New Roman"/>
                          <a:cs typeface="Times New Roman"/>
                        </a:rPr>
                        <a:t> </a:t>
                      </a:r>
                      <a:r>
                        <a:rPr sz="1100" spc="-10" dirty="0">
                          <a:latin typeface="Times New Roman"/>
                          <a:cs typeface="Times New Roman"/>
                        </a:rPr>
                        <a:t>Development</a:t>
                      </a:r>
                      <a:r>
                        <a:rPr sz="1100" spc="-20" dirty="0">
                          <a:latin typeface="Times New Roman"/>
                          <a:cs typeface="Times New Roman"/>
                        </a:rPr>
                        <a:t> </a:t>
                      </a:r>
                      <a:r>
                        <a:rPr sz="1100" spc="-10" dirty="0">
                          <a:latin typeface="Times New Roman"/>
                          <a:cs typeface="Times New Roman"/>
                        </a:rPr>
                        <a:t>Workshop</a:t>
                      </a:r>
                      <a:endParaRPr sz="1100">
                        <a:latin typeface="Times New Roman"/>
                        <a:cs typeface="Times New Roman"/>
                      </a:endParaRPr>
                    </a:p>
                  </a:txBody>
                  <a:tcPr marL="0" marR="0" marT="673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5240" algn="ctr">
                        <a:lnSpc>
                          <a:spcPct val="100000"/>
                        </a:lnSpc>
                        <a:spcBef>
                          <a:spcPts val="530"/>
                        </a:spcBef>
                      </a:pPr>
                      <a:r>
                        <a:rPr sz="1100" spc="-10" dirty="0">
                          <a:latin typeface="Times New Roman"/>
                          <a:cs typeface="Times New Roman"/>
                        </a:rPr>
                        <a:t>Offline</a:t>
                      </a:r>
                      <a:endParaRPr sz="1100">
                        <a:latin typeface="Times New Roman"/>
                        <a:cs typeface="Times New Roman"/>
                      </a:endParaRPr>
                    </a:p>
                  </a:txBody>
                  <a:tcPr marL="0" marR="0" marT="673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bl>
          </a:graphicData>
        </a:graphic>
      </p:graphicFrame>
      <p:sp>
        <p:nvSpPr>
          <p:cNvPr id="11" name="object 11"/>
          <p:cNvSpPr txBox="1"/>
          <p:nvPr/>
        </p:nvSpPr>
        <p:spPr>
          <a:xfrm>
            <a:off x="574675" y="6752494"/>
            <a:ext cx="6312535" cy="3163687"/>
          </a:xfrm>
          <a:prstGeom prst="rect">
            <a:avLst/>
          </a:prstGeom>
        </p:spPr>
        <p:txBody>
          <a:bodyPr vert="horz" wrap="square" lIns="0" tIns="74930" rIns="0" bIns="0" rtlCol="0">
            <a:spAutoFit/>
          </a:bodyPr>
          <a:lstStyle/>
          <a:p>
            <a:pPr marL="50800">
              <a:lnSpc>
                <a:spcPct val="100000"/>
              </a:lnSpc>
              <a:spcBef>
                <a:spcPts val="590"/>
              </a:spcBef>
            </a:pPr>
            <a:r>
              <a:rPr sz="1600" b="1" dirty="0">
                <a:latin typeface="Times New Roman"/>
                <a:cs typeface="Times New Roman"/>
              </a:rPr>
              <a:t>3.4.</a:t>
            </a:r>
            <a:r>
              <a:rPr sz="1600" b="1" spc="145" dirty="0">
                <a:latin typeface="Times New Roman"/>
                <a:cs typeface="Times New Roman"/>
              </a:rPr>
              <a:t> </a:t>
            </a:r>
            <a:r>
              <a:rPr sz="1700" b="1" dirty="0">
                <a:latin typeface="Times New Roman"/>
                <a:cs typeface="Times New Roman"/>
              </a:rPr>
              <a:t>Footer</a:t>
            </a:r>
            <a:r>
              <a:rPr sz="1700" b="1" spc="-35" dirty="0">
                <a:latin typeface="Times New Roman"/>
                <a:cs typeface="Times New Roman"/>
              </a:rPr>
              <a:t> </a:t>
            </a:r>
            <a:r>
              <a:rPr sz="1700" b="1" spc="-10" dirty="0">
                <a:latin typeface="Times New Roman"/>
                <a:cs typeface="Times New Roman"/>
              </a:rPr>
              <a:t>Section:</a:t>
            </a:r>
            <a:endParaRPr sz="1700" dirty="0">
              <a:latin typeface="Times New Roman"/>
              <a:cs typeface="Times New Roman"/>
            </a:endParaRPr>
          </a:p>
          <a:p>
            <a:pPr marL="12700">
              <a:lnSpc>
                <a:spcPct val="100000"/>
              </a:lnSpc>
              <a:spcBef>
                <a:spcPts val="350"/>
              </a:spcBef>
            </a:pPr>
            <a:r>
              <a:rPr lang="en-US" sz="1200" dirty="0">
                <a:latin typeface="Times New Roman"/>
                <a:cs typeface="Times New Roman"/>
              </a:rPr>
              <a:t>The footer section includes contact details such as the support email</a:t>
            </a:r>
          </a:p>
          <a:p>
            <a:pPr marL="12700">
              <a:lnSpc>
                <a:spcPct val="100000"/>
              </a:lnSpc>
              <a:spcBef>
                <a:spcPts val="350"/>
              </a:spcBef>
            </a:pPr>
            <a:r>
              <a:rPr lang="en-US" sz="1200" dirty="0">
                <a:latin typeface="Times New Roman"/>
                <a:cs typeface="Times New Roman"/>
              </a:rPr>
              <a:t>([student@college.edu](mailto:student@college.edu)), help desk number (9444412345), support timings, and copyright information to provide assistance and official ownership details at the bottom of the page.</a:t>
            </a:r>
          </a:p>
          <a:p>
            <a:pPr>
              <a:lnSpc>
                <a:spcPct val="100000"/>
              </a:lnSpc>
              <a:spcBef>
                <a:spcPts val="45"/>
              </a:spcBef>
            </a:pPr>
            <a:endParaRPr sz="1200" dirty="0">
              <a:latin typeface="Times New Roman"/>
              <a:cs typeface="Times New Roman"/>
            </a:endParaRPr>
          </a:p>
          <a:p>
            <a:pPr marL="113664">
              <a:lnSpc>
                <a:spcPct val="100000"/>
              </a:lnSpc>
              <a:spcBef>
                <a:spcPts val="5"/>
              </a:spcBef>
            </a:pPr>
            <a:r>
              <a:rPr sz="1300" b="1" spc="-10" dirty="0">
                <a:latin typeface="Times New Roman"/>
                <a:cs typeface="Times New Roman"/>
              </a:rPr>
              <a:t>Sample:</a:t>
            </a:r>
            <a:endParaRPr sz="1300" dirty="0">
              <a:latin typeface="Times New Roman"/>
              <a:cs typeface="Times New Roman"/>
            </a:endParaRPr>
          </a:p>
          <a:p>
            <a:pPr marL="679450">
              <a:lnSpc>
                <a:spcPct val="100000"/>
              </a:lnSpc>
              <a:spcBef>
                <a:spcPts val="1430"/>
              </a:spcBef>
            </a:pPr>
            <a:r>
              <a:rPr sz="1300" b="1" spc="-10" dirty="0">
                <a:latin typeface="Times New Roman"/>
                <a:cs typeface="Times New Roman"/>
              </a:rPr>
              <a:t>Contact</a:t>
            </a:r>
            <a:r>
              <a:rPr sz="1300" b="1" spc="-60" dirty="0">
                <a:latin typeface="Times New Roman"/>
                <a:cs typeface="Times New Roman"/>
              </a:rPr>
              <a:t> </a:t>
            </a:r>
            <a:r>
              <a:rPr sz="1300" b="1" dirty="0">
                <a:latin typeface="Times New Roman"/>
                <a:cs typeface="Times New Roman"/>
              </a:rPr>
              <a:t>Email:</a:t>
            </a:r>
            <a:r>
              <a:rPr sz="1300" b="1" spc="-50" dirty="0">
                <a:latin typeface="Times New Roman"/>
                <a:cs typeface="Times New Roman"/>
              </a:rPr>
              <a:t> </a:t>
            </a:r>
            <a:r>
              <a:rPr sz="1300" spc="-10" dirty="0">
                <a:latin typeface="Times New Roman"/>
                <a:cs typeface="Times New Roman"/>
                <a:hlinkClick r:id="rId7"/>
              </a:rPr>
              <a:t>events@abccollege.edu</a:t>
            </a:r>
            <a:endParaRPr sz="1300" dirty="0">
              <a:latin typeface="Times New Roman"/>
              <a:cs typeface="Times New Roman"/>
            </a:endParaRPr>
          </a:p>
          <a:p>
            <a:pPr marL="679450">
              <a:lnSpc>
                <a:spcPct val="100000"/>
              </a:lnSpc>
              <a:spcBef>
                <a:spcPts val="1135"/>
              </a:spcBef>
            </a:pPr>
            <a:r>
              <a:rPr sz="1300" b="1" dirty="0">
                <a:latin typeface="Times New Roman"/>
                <a:cs typeface="Times New Roman"/>
              </a:rPr>
              <a:t>Help</a:t>
            </a:r>
            <a:r>
              <a:rPr sz="1300" b="1" spc="-45" dirty="0">
                <a:latin typeface="Times New Roman"/>
                <a:cs typeface="Times New Roman"/>
              </a:rPr>
              <a:t> </a:t>
            </a:r>
            <a:r>
              <a:rPr sz="1300" b="1" dirty="0">
                <a:latin typeface="Times New Roman"/>
                <a:cs typeface="Times New Roman"/>
              </a:rPr>
              <a:t>Desk</a:t>
            </a:r>
            <a:r>
              <a:rPr sz="1300" b="1" spc="-30" dirty="0">
                <a:latin typeface="Times New Roman"/>
                <a:cs typeface="Times New Roman"/>
              </a:rPr>
              <a:t> </a:t>
            </a:r>
            <a:r>
              <a:rPr sz="1300" b="1" spc="-10" dirty="0">
                <a:latin typeface="Times New Roman"/>
                <a:cs typeface="Times New Roman"/>
              </a:rPr>
              <a:t>Number:</a:t>
            </a:r>
            <a:r>
              <a:rPr sz="1300" b="1" spc="-25" dirty="0">
                <a:latin typeface="Times New Roman"/>
                <a:cs typeface="Times New Roman"/>
              </a:rPr>
              <a:t> </a:t>
            </a:r>
            <a:r>
              <a:rPr sz="1300" dirty="0">
                <a:latin typeface="Times New Roman"/>
                <a:cs typeface="Times New Roman"/>
              </a:rPr>
              <a:t>+91</a:t>
            </a:r>
            <a:r>
              <a:rPr sz="1300" spc="-30" dirty="0">
                <a:latin typeface="Times New Roman"/>
                <a:cs typeface="Times New Roman"/>
              </a:rPr>
              <a:t> </a:t>
            </a:r>
            <a:r>
              <a:rPr sz="1300" dirty="0">
                <a:latin typeface="Times New Roman"/>
                <a:cs typeface="Times New Roman"/>
              </a:rPr>
              <a:t>94444</a:t>
            </a:r>
            <a:r>
              <a:rPr sz="1300" spc="-30" dirty="0">
                <a:latin typeface="Times New Roman"/>
                <a:cs typeface="Times New Roman"/>
              </a:rPr>
              <a:t> </a:t>
            </a:r>
            <a:r>
              <a:rPr sz="1300" spc="-10" dirty="0">
                <a:latin typeface="Times New Roman"/>
                <a:cs typeface="Times New Roman"/>
              </a:rPr>
              <a:t>12345</a:t>
            </a:r>
            <a:endParaRPr sz="1300" dirty="0">
              <a:latin typeface="Times New Roman"/>
              <a:cs typeface="Times New Roman"/>
            </a:endParaRPr>
          </a:p>
          <a:p>
            <a:pPr marL="679450">
              <a:lnSpc>
                <a:spcPct val="100000"/>
              </a:lnSpc>
              <a:spcBef>
                <a:spcPts val="1130"/>
              </a:spcBef>
            </a:pPr>
            <a:r>
              <a:rPr sz="1300" b="1" spc="-10" dirty="0">
                <a:latin typeface="Times New Roman"/>
                <a:cs typeface="Times New Roman"/>
              </a:rPr>
              <a:t>Support</a:t>
            </a:r>
            <a:r>
              <a:rPr sz="1300" b="1" spc="-50" dirty="0">
                <a:latin typeface="Times New Roman"/>
                <a:cs typeface="Times New Roman"/>
              </a:rPr>
              <a:t> </a:t>
            </a:r>
            <a:r>
              <a:rPr sz="1300" b="1" dirty="0">
                <a:latin typeface="Times New Roman"/>
                <a:cs typeface="Times New Roman"/>
              </a:rPr>
              <a:t>Timings:</a:t>
            </a:r>
            <a:r>
              <a:rPr sz="1300" b="1" spc="-40" dirty="0">
                <a:latin typeface="Times New Roman"/>
                <a:cs typeface="Times New Roman"/>
              </a:rPr>
              <a:t> </a:t>
            </a:r>
            <a:r>
              <a:rPr sz="1300" dirty="0">
                <a:latin typeface="Times New Roman"/>
                <a:cs typeface="Times New Roman"/>
              </a:rPr>
              <a:t>9:00</a:t>
            </a:r>
            <a:r>
              <a:rPr sz="1300" spc="-45" dirty="0">
                <a:latin typeface="Times New Roman"/>
                <a:cs typeface="Times New Roman"/>
              </a:rPr>
              <a:t> </a:t>
            </a:r>
            <a:r>
              <a:rPr sz="1300" dirty="0">
                <a:latin typeface="Times New Roman"/>
                <a:cs typeface="Times New Roman"/>
              </a:rPr>
              <a:t>AM</a:t>
            </a:r>
            <a:r>
              <a:rPr sz="1300" spc="-45" dirty="0">
                <a:latin typeface="Times New Roman"/>
                <a:cs typeface="Times New Roman"/>
              </a:rPr>
              <a:t> </a:t>
            </a:r>
            <a:r>
              <a:rPr sz="1300" dirty="0">
                <a:latin typeface="Times New Roman"/>
                <a:cs typeface="Times New Roman"/>
              </a:rPr>
              <a:t>–</a:t>
            </a:r>
            <a:r>
              <a:rPr sz="1300" spc="-40" dirty="0">
                <a:latin typeface="Times New Roman"/>
                <a:cs typeface="Times New Roman"/>
              </a:rPr>
              <a:t> </a:t>
            </a:r>
            <a:r>
              <a:rPr sz="1300" dirty="0">
                <a:latin typeface="Times New Roman"/>
                <a:cs typeface="Times New Roman"/>
              </a:rPr>
              <a:t>4:30</a:t>
            </a:r>
            <a:r>
              <a:rPr sz="1300" spc="-45" dirty="0">
                <a:latin typeface="Times New Roman"/>
                <a:cs typeface="Times New Roman"/>
              </a:rPr>
              <a:t> </a:t>
            </a:r>
            <a:r>
              <a:rPr sz="1300" dirty="0">
                <a:latin typeface="Times New Roman"/>
                <a:cs typeface="Times New Roman"/>
              </a:rPr>
              <a:t>PM</a:t>
            </a:r>
            <a:r>
              <a:rPr sz="1300" spc="-45" dirty="0">
                <a:latin typeface="Times New Roman"/>
                <a:cs typeface="Times New Roman"/>
              </a:rPr>
              <a:t> </a:t>
            </a:r>
            <a:r>
              <a:rPr sz="1300" spc="-10" dirty="0">
                <a:latin typeface="Times New Roman"/>
                <a:cs typeface="Times New Roman"/>
              </a:rPr>
              <a:t>(Working</a:t>
            </a:r>
            <a:r>
              <a:rPr sz="1300" spc="-45" dirty="0">
                <a:latin typeface="Times New Roman"/>
                <a:cs typeface="Times New Roman"/>
              </a:rPr>
              <a:t> </a:t>
            </a:r>
            <a:r>
              <a:rPr sz="1300" dirty="0">
                <a:latin typeface="Times New Roman"/>
                <a:cs typeface="Times New Roman"/>
              </a:rPr>
              <a:t>Days</a:t>
            </a:r>
            <a:r>
              <a:rPr sz="1300" spc="-40" dirty="0">
                <a:latin typeface="Times New Roman"/>
                <a:cs typeface="Times New Roman"/>
              </a:rPr>
              <a:t> </a:t>
            </a:r>
            <a:r>
              <a:rPr sz="1300" spc="-10" dirty="0">
                <a:latin typeface="Times New Roman"/>
                <a:cs typeface="Times New Roman"/>
              </a:rPr>
              <a:t>Only)</a:t>
            </a:r>
            <a:endParaRPr sz="1300" dirty="0">
              <a:latin typeface="Times New Roman"/>
              <a:cs typeface="Times New Roman"/>
            </a:endParaRPr>
          </a:p>
          <a:p>
            <a:pPr marL="679450" marR="5080">
              <a:lnSpc>
                <a:spcPts val="1490"/>
              </a:lnSpc>
              <a:spcBef>
                <a:spcPts val="1245"/>
              </a:spcBef>
            </a:pPr>
            <a:r>
              <a:rPr sz="1300" b="1" dirty="0">
                <a:latin typeface="Times New Roman"/>
                <a:cs typeface="Times New Roman"/>
              </a:rPr>
              <a:t>Copyright:</a:t>
            </a:r>
            <a:r>
              <a:rPr sz="1300" dirty="0">
                <a:latin typeface="Times New Roman"/>
                <a:cs typeface="Times New Roman"/>
              </a:rPr>
              <a:t>©</a:t>
            </a:r>
            <a:r>
              <a:rPr sz="1300" spc="-45" dirty="0">
                <a:latin typeface="Times New Roman"/>
                <a:cs typeface="Times New Roman"/>
              </a:rPr>
              <a:t> </a:t>
            </a:r>
            <a:r>
              <a:rPr sz="1300" dirty="0">
                <a:latin typeface="Times New Roman"/>
                <a:cs typeface="Times New Roman"/>
              </a:rPr>
              <a:t>2026</a:t>
            </a:r>
            <a:r>
              <a:rPr sz="1300" spc="-45" dirty="0">
                <a:latin typeface="Times New Roman"/>
                <a:cs typeface="Times New Roman"/>
              </a:rPr>
              <a:t> </a:t>
            </a:r>
            <a:r>
              <a:rPr sz="1300" dirty="0">
                <a:latin typeface="Times New Roman"/>
                <a:cs typeface="Times New Roman"/>
              </a:rPr>
              <a:t>Department</a:t>
            </a:r>
            <a:r>
              <a:rPr sz="1300" spc="-45" dirty="0">
                <a:latin typeface="Times New Roman"/>
                <a:cs typeface="Times New Roman"/>
              </a:rPr>
              <a:t> </a:t>
            </a:r>
            <a:r>
              <a:rPr sz="1300" dirty="0">
                <a:latin typeface="Times New Roman"/>
                <a:cs typeface="Times New Roman"/>
              </a:rPr>
              <a:t>of</a:t>
            </a:r>
            <a:r>
              <a:rPr sz="1300" spc="-45" dirty="0">
                <a:latin typeface="Times New Roman"/>
                <a:cs typeface="Times New Roman"/>
              </a:rPr>
              <a:t> </a:t>
            </a:r>
            <a:r>
              <a:rPr sz="1300" spc="-10" dirty="0">
                <a:latin typeface="Times New Roman"/>
                <a:cs typeface="Times New Roman"/>
              </a:rPr>
              <a:t>Computer</a:t>
            </a:r>
            <a:r>
              <a:rPr sz="1300" spc="-45" dirty="0">
                <a:latin typeface="Times New Roman"/>
                <a:cs typeface="Times New Roman"/>
              </a:rPr>
              <a:t> </a:t>
            </a:r>
            <a:r>
              <a:rPr sz="1300" dirty="0">
                <a:latin typeface="Times New Roman"/>
                <a:cs typeface="Times New Roman"/>
              </a:rPr>
              <a:t>Science,</a:t>
            </a:r>
            <a:r>
              <a:rPr sz="1300" spc="-45" dirty="0">
                <a:latin typeface="Times New Roman"/>
                <a:cs typeface="Times New Roman"/>
              </a:rPr>
              <a:t> </a:t>
            </a:r>
            <a:r>
              <a:rPr sz="1300" dirty="0">
                <a:latin typeface="Times New Roman"/>
                <a:cs typeface="Times New Roman"/>
              </a:rPr>
              <a:t>ABC</a:t>
            </a:r>
            <a:r>
              <a:rPr sz="1300" spc="-45" dirty="0">
                <a:latin typeface="Times New Roman"/>
                <a:cs typeface="Times New Roman"/>
              </a:rPr>
              <a:t> </a:t>
            </a:r>
            <a:r>
              <a:rPr sz="1300" dirty="0">
                <a:latin typeface="Times New Roman"/>
                <a:cs typeface="Times New Roman"/>
              </a:rPr>
              <a:t>Engineering</a:t>
            </a:r>
            <a:r>
              <a:rPr sz="1300" spc="-45" dirty="0">
                <a:latin typeface="Times New Roman"/>
                <a:cs typeface="Times New Roman"/>
              </a:rPr>
              <a:t> </a:t>
            </a:r>
            <a:r>
              <a:rPr sz="1300" dirty="0">
                <a:latin typeface="Times New Roman"/>
                <a:cs typeface="Times New Roman"/>
              </a:rPr>
              <a:t>College.</a:t>
            </a:r>
            <a:r>
              <a:rPr sz="1300" spc="-45" dirty="0">
                <a:latin typeface="Times New Roman"/>
                <a:cs typeface="Times New Roman"/>
              </a:rPr>
              <a:t> </a:t>
            </a:r>
            <a:r>
              <a:rPr sz="1300" spc="-25" dirty="0">
                <a:latin typeface="Times New Roman"/>
                <a:cs typeface="Times New Roman"/>
              </a:rPr>
              <a:t>All </a:t>
            </a:r>
            <a:r>
              <a:rPr sz="1300" dirty="0">
                <a:latin typeface="Times New Roman"/>
                <a:cs typeface="Times New Roman"/>
              </a:rPr>
              <a:t>Rights</a:t>
            </a:r>
            <a:r>
              <a:rPr sz="1300" spc="-30" dirty="0">
                <a:latin typeface="Times New Roman"/>
                <a:cs typeface="Times New Roman"/>
              </a:rPr>
              <a:t> </a:t>
            </a:r>
            <a:r>
              <a:rPr sz="1300" spc="-10" dirty="0">
                <a:latin typeface="Times New Roman"/>
                <a:cs typeface="Times New Roman"/>
              </a:rPr>
              <a:t>Reserved.</a:t>
            </a:r>
            <a:endParaRPr sz="1300" dirty="0">
              <a:latin typeface="Times New Roman"/>
              <a:cs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565784" y="2755900"/>
            <a:ext cx="6502400" cy="0"/>
          </a:xfrm>
          <a:custGeom>
            <a:avLst/>
            <a:gdLst/>
            <a:ahLst/>
            <a:cxnLst/>
            <a:rect l="l" t="t" r="r" b="b"/>
            <a:pathLst>
              <a:path w="6502400">
                <a:moveTo>
                  <a:pt x="0" y="0"/>
                </a:moveTo>
                <a:lnTo>
                  <a:pt x="6502400" y="0"/>
                </a:lnTo>
              </a:path>
            </a:pathLst>
          </a:custGeom>
          <a:ln w="12698">
            <a:solidFill>
              <a:srgbClr val="868686"/>
            </a:solidFill>
          </a:ln>
        </p:spPr>
        <p:txBody>
          <a:bodyPr wrap="square" lIns="0" tIns="0" rIns="0" bIns="0" rtlCol="0"/>
          <a:lstStyle/>
          <a:p>
            <a:endParaRPr/>
          </a:p>
        </p:txBody>
      </p:sp>
      <p:sp>
        <p:nvSpPr>
          <p:cNvPr id="3" name="object 3"/>
          <p:cNvSpPr/>
          <p:nvPr/>
        </p:nvSpPr>
        <p:spPr>
          <a:xfrm>
            <a:off x="604336" y="4203700"/>
            <a:ext cx="6502400" cy="0"/>
          </a:xfrm>
          <a:custGeom>
            <a:avLst/>
            <a:gdLst/>
            <a:ahLst/>
            <a:cxnLst/>
            <a:rect l="l" t="t" r="r" b="b"/>
            <a:pathLst>
              <a:path w="6502400">
                <a:moveTo>
                  <a:pt x="0" y="0"/>
                </a:moveTo>
                <a:lnTo>
                  <a:pt x="6502400" y="0"/>
                </a:lnTo>
              </a:path>
            </a:pathLst>
          </a:custGeom>
          <a:ln w="12698">
            <a:solidFill>
              <a:srgbClr val="868686"/>
            </a:solidFill>
          </a:ln>
        </p:spPr>
        <p:txBody>
          <a:bodyPr wrap="square" lIns="0" tIns="0" rIns="0" bIns="0" rtlCol="0"/>
          <a:lstStyle/>
          <a:p>
            <a:endParaRPr/>
          </a:p>
        </p:txBody>
      </p:sp>
      <p:sp>
        <p:nvSpPr>
          <p:cNvPr id="4" name="object 4"/>
          <p:cNvSpPr/>
          <p:nvPr/>
        </p:nvSpPr>
        <p:spPr>
          <a:xfrm>
            <a:off x="359209" y="8623300"/>
            <a:ext cx="6502400" cy="0"/>
          </a:xfrm>
          <a:custGeom>
            <a:avLst/>
            <a:gdLst/>
            <a:ahLst/>
            <a:cxnLst/>
            <a:rect l="l" t="t" r="r" b="b"/>
            <a:pathLst>
              <a:path w="6502400">
                <a:moveTo>
                  <a:pt x="0" y="0"/>
                </a:moveTo>
                <a:lnTo>
                  <a:pt x="6502400" y="0"/>
                </a:lnTo>
              </a:path>
            </a:pathLst>
          </a:custGeom>
          <a:ln w="12698">
            <a:solidFill>
              <a:srgbClr val="868686"/>
            </a:solidFill>
          </a:ln>
        </p:spPr>
        <p:txBody>
          <a:bodyPr wrap="square" lIns="0" tIns="0" rIns="0" bIns="0" rtlCol="0"/>
          <a:lstStyle/>
          <a:p>
            <a:endParaRPr/>
          </a:p>
        </p:txBody>
      </p:sp>
      <p:sp>
        <p:nvSpPr>
          <p:cNvPr id="5" name="object 5"/>
          <p:cNvSpPr/>
          <p:nvPr/>
        </p:nvSpPr>
        <p:spPr>
          <a:xfrm>
            <a:off x="359209" y="10147300"/>
            <a:ext cx="6502400" cy="0"/>
          </a:xfrm>
          <a:custGeom>
            <a:avLst/>
            <a:gdLst/>
            <a:ahLst/>
            <a:cxnLst/>
            <a:rect l="l" t="t" r="r" b="b"/>
            <a:pathLst>
              <a:path w="6502400">
                <a:moveTo>
                  <a:pt x="0" y="0"/>
                </a:moveTo>
                <a:lnTo>
                  <a:pt x="6502400" y="0"/>
                </a:lnTo>
              </a:path>
            </a:pathLst>
          </a:custGeom>
          <a:ln w="12698">
            <a:solidFill>
              <a:srgbClr val="868686"/>
            </a:solidFill>
          </a:ln>
        </p:spPr>
        <p:txBody>
          <a:bodyPr wrap="square" lIns="0" tIns="0" rIns="0" bIns="0" rtlCol="0"/>
          <a:lstStyle/>
          <a:p>
            <a:endParaRPr/>
          </a:p>
        </p:txBody>
      </p:sp>
      <p:pic>
        <p:nvPicPr>
          <p:cNvPr id="6" name="object 6"/>
          <p:cNvPicPr/>
          <p:nvPr/>
        </p:nvPicPr>
        <p:blipFill>
          <a:blip r:embed="rId2" cstate="print"/>
          <a:stretch>
            <a:fillRect/>
          </a:stretch>
        </p:blipFill>
        <p:spPr>
          <a:xfrm>
            <a:off x="378459" y="692659"/>
            <a:ext cx="1490827" cy="370331"/>
          </a:xfrm>
          <a:prstGeom prst="rect">
            <a:avLst/>
          </a:prstGeom>
        </p:spPr>
      </p:pic>
      <p:pic>
        <p:nvPicPr>
          <p:cNvPr id="7" name="object 7"/>
          <p:cNvPicPr/>
          <p:nvPr/>
        </p:nvPicPr>
        <p:blipFill>
          <a:blip r:embed="rId3" cstate="print"/>
          <a:stretch>
            <a:fillRect/>
          </a:stretch>
        </p:blipFill>
        <p:spPr>
          <a:xfrm>
            <a:off x="2283460" y="673863"/>
            <a:ext cx="1006071" cy="566927"/>
          </a:xfrm>
          <a:prstGeom prst="rect">
            <a:avLst/>
          </a:prstGeom>
        </p:spPr>
      </p:pic>
      <p:pic>
        <p:nvPicPr>
          <p:cNvPr id="8" name="object 8"/>
          <p:cNvPicPr/>
          <p:nvPr/>
        </p:nvPicPr>
        <p:blipFill>
          <a:blip r:embed="rId4" cstate="print"/>
          <a:stretch>
            <a:fillRect/>
          </a:stretch>
        </p:blipFill>
        <p:spPr>
          <a:xfrm>
            <a:off x="3816984" y="673100"/>
            <a:ext cx="997243" cy="434340"/>
          </a:xfrm>
          <a:prstGeom prst="rect">
            <a:avLst/>
          </a:prstGeom>
        </p:spPr>
      </p:pic>
      <p:pic>
        <p:nvPicPr>
          <p:cNvPr id="9" name="object 9"/>
          <p:cNvPicPr/>
          <p:nvPr/>
        </p:nvPicPr>
        <p:blipFill>
          <a:blip r:embed="rId5" cstate="print"/>
          <a:stretch>
            <a:fillRect/>
          </a:stretch>
        </p:blipFill>
        <p:spPr>
          <a:xfrm>
            <a:off x="5779134" y="692405"/>
            <a:ext cx="1082475" cy="402335"/>
          </a:xfrm>
          <a:prstGeom prst="rect">
            <a:avLst/>
          </a:prstGeom>
        </p:spPr>
      </p:pic>
      <p:sp>
        <p:nvSpPr>
          <p:cNvPr id="10" name="object 10"/>
          <p:cNvSpPr txBox="1"/>
          <p:nvPr/>
        </p:nvSpPr>
        <p:spPr>
          <a:xfrm>
            <a:off x="378459" y="1441578"/>
            <a:ext cx="6502399" cy="8524128"/>
          </a:xfrm>
          <a:prstGeom prst="rect">
            <a:avLst/>
          </a:prstGeom>
        </p:spPr>
        <p:txBody>
          <a:bodyPr vert="horz" wrap="square" lIns="0" tIns="148590" rIns="0" bIns="0" rtlCol="0">
            <a:spAutoFit/>
          </a:bodyPr>
          <a:lstStyle/>
          <a:p>
            <a:pPr marL="230504" indent="-222250">
              <a:lnSpc>
                <a:spcPct val="100000"/>
              </a:lnSpc>
              <a:spcBef>
                <a:spcPts val="1170"/>
              </a:spcBef>
              <a:buSzPct val="91304"/>
              <a:buAutoNum type="arabicPeriod" startAt="4"/>
              <a:tabLst>
                <a:tab pos="230504" algn="l"/>
              </a:tabLst>
            </a:pPr>
            <a:r>
              <a:rPr lang="en-US" sz="2300" b="1" spc="-10" dirty="0">
                <a:solidFill>
                  <a:srgbClr val="3B78D8"/>
                </a:solidFill>
                <a:latin typeface="Times New Roman"/>
                <a:cs typeface="Times New Roman"/>
              </a:rPr>
              <a:t>Implementation</a:t>
            </a:r>
            <a:r>
              <a:rPr lang="en-US" sz="2300" b="1" spc="-25" dirty="0">
                <a:solidFill>
                  <a:srgbClr val="3B78D8"/>
                </a:solidFill>
                <a:latin typeface="Times New Roman"/>
                <a:cs typeface="Times New Roman"/>
              </a:rPr>
              <a:t> </a:t>
            </a:r>
            <a:r>
              <a:rPr lang="en-US" sz="2300" b="1" spc="-10" dirty="0">
                <a:solidFill>
                  <a:srgbClr val="3B78D8"/>
                </a:solidFill>
                <a:latin typeface="Times New Roman"/>
                <a:cs typeface="Times New Roman"/>
              </a:rPr>
              <a:t>Steps:</a:t>
            </a:r>
            <a:endParaRPr lang="en-US" sz="2300" dirty="0">
              <a:latin typeface="Times New Roman"/>
              <a:cs typeface="Times New Roman"/>
            </a:endParaRPr>
          </a:p>
          <a:p>
            <a:pPr marL="22225">
              <a:lnSpc>
                <a:spcPct val="100000"/>
              </a:lnSpc>
              <a:spcBef>
                <a:spcPts val="555"/>
              </a:spcBef>
            </a:pPr>
            <a:r>
              <a:rPr lang="en-US" sz="1200" dirty="0">
                <a:latin typeface="Times New Roman"/>
                <a:cs typeface="Times New Roman"/>
              </a:rPr>
              <a:t>The project was developed step-by-step by first creating the basic structure using HTML, then designing and styling the layout with CSS, adding form elements and a participants table, implementing basic validation and functionality using JavaScript, and finally testing the webpage to ensure proper working and user interaction.</a:t>
            </a:r>
          </a:p>
          <a:p>
            <a:pPr>
              <a:lnSpc>
                <a:spcPct val="100000"/>
              </a:lnSpc>
            </a:pPr>
            <a:endParaRPr sz="1200" dirty="0">
              <a:latin typeface="Times New Roman"/>
              <a:cs typeface="Times New Roman"/>
            </a:endParaRPr>
          </a:p>
          <a:p>
            <a:pPr>
              <a:lnSpc>
                <a:spcPct val="100000"/>
              </a:lnSpc>
              <a:spcBef>
                <a:spcPts val="1095"/>
              </a:spcBef>
            </a:pPr>
            <a:endParaRPr sz="1200" dirty="0">
              <a:latin typeface="Times New Roman"/>
              <a:cs typeface="Times New Roman"/>
            </a:endParaRPr>
          </a:p>
          <a:p>
            <a:pPr marL="351155" indent="-290830">
              <a:lnSpc>
                <a:spcPct val="100000"/>
              </a:lnSpc>
              <a:spcBef>
                <a:spcPts val="5"/>
              </a:spcBef>
              <a:buAutoNum type="arabicPeriod" startAt="5"/>
              <a:tabLst>
                <a:tab pos="351155" algn="l"/>
              </a:tabLst>
            </a:pPr>
            <a:r>
              <a:rPr sz="2300" b="1" spc="-25" dirty="0">
                <a:solidFill>
                  <a:srgbClr val="3B78D8"/>
                </a:solidFill>
                <a:latin typeface="Times New Roman"/>
                <a:cs typeface="Times New Roman"/>
              </a:rPr>
              <a:t>Technologies</a:t>
            </a:r>
            <a:r>
              <a:rPr sz="2300" b="1" spc="-30" dirty="0">
                <a:solidFill>
                  <a:srgbClr val="3B78D8"/>
                </a:solidFill>
                <a:latin typeface="Times New Roman"/>
                <a:cs typeface="Times New Roman"/>
              </a:rPr>
              <a:t> </a:t>
            </a:r>
            <a:r>
              <a:rPr sz="2300" b="1" spc="-20" dirty="0">
                <a:solidFill>
                  <a:srgbClr val="3B78D8"/>
                </a:solidFill>
                <a:latin typeface="Times New Roman"/>
                <a:cs typeface="Times New Roman"/>
              </a:rPr>
              <a:t>Used:</a:t>
            </a:r>
            <a:endParaRPr sz="2300" dirty="0">
              <a:latin typeface="Times New Roman"/>
              <a:cs typeface="Times New Roman"/>
            </a:endParaRPr>
          </a:p>
          <a:p>
            <a:pPr marL="22225">
              <a:lnSpc>
                <a:spcPct val="100000"/>
              </a:lnSpc>
              <a:spcBef>
                <a:spcPts val="1220"/>
              </a:spcBef>
            </a:pPr>
            <a:r>
              <a:rPr lang="en-US" sz="1200" dirty="0">
                <a:latin typeface="Times New Roman"/>
                <a:cs typeface="Times New Roman"/>
              </a:rPr>
              <a:t>The project was built using HTML to create the structure of the web page ,CSS to design and style the layout, form, and table elements, and JavaScript to implement form validation and basic interactivity</a:t>
            </a:r>
            <a:r>
              <a:rPr lang="en-US" sz="1200" i="1" dirty="0">
                <a:latin typeface="Times New Roman"/>
                <a:cs typeface="Times New Roman"/>
              </a:rPr>
              <a:t>.</a:t>
            </a:r>
          </a:p>
          <a:p>
            <a:pPr>
              <a:lnSpc>
                <a:spcPct val="100000"/>
              </a:lnSpc>
            </a:pPr>
            <a:endParaRPr sz="1200" dirty="0">
              <a:latin typeface="Times New Roman"/>
              <a:cs typeface="Times New Roman"/>
            </a:endParaRPr>
          </a:p>
          <a:p>
            <a:pPr>
              <a:lnSpc>
                <a:spcPct val="100000"/>
              </a:lnSpc>
              <a:spcBef>
                <a:spcPts val="1090"/>
              </a:spcBef>
            </a:pPr>
            <a:endParaRPr sz="1200" dirty="0">
              <a:latin typeface="Times New Roman"/>
              <a:cs typeface="Times New Roman"/>
            </a:endParaRPr>
          </a:p>
          <a:p>
            <a:pPr marL="230504" indent="-222250">
              <a:lnSpc>
                <a:spcPct val="100000"/>
              </a:lnSpc>
              <a:spcBef>
                <a:spcPts val="5"/>
              </a:spcBef>
              <a:buSzPct val="91304"/>
              <a:buAutoNum type="arabicPeriod" startAt="6"/>
              <a:tabLst>
                <a:tab pos="230504" algn="l"/>
              </a:tabLst>
            </a:pPr>
            <a:r>
              <a:rPr sz="2300" b="1" spc="-10" dirty="0">
                <a:solidFill>
                  <a:srgbClr val="3B78D8"/>
                </a:solidFill>
                <a:latin typeface="Times New Roman"/>
                <a:cs typeface="Times New Roman"/>
              </a:rPr>
              <a:t>Output:</a:t>
            </a:r>
            <a:endParaRPr sz="2300" dirty="0">
              <a:latin typeface="Times New Roman"/>
              <a:cs typeface="Times New Roman"/>
            </a:endParaRPr>
          </a:p>
          <a:p>
            <a:pPr marL="60325" marR="5080">
              <a:lnSpc>
                <a:spcPts val="1380"/>
              </a:lnSpc>
              <a:spcBef>
                <a:spcPts val="1375"/>
              </a:spcBef>
            </a:pPr>
            <a:endParaRPr lang="en-IN" sz="1200" i="1" spc="-10" dirty="0">
              <a:latin typeface="Times New Roman"/>
              <a:cs typeface="Times New Roman"/>
            </a:endParaRPr>
          </a:p>
          <a:p>
            <a:pPr marL="60325" marR="5080">
              <a:lnSpc>
                <a:spcPts val="1380"/>
              </a:lnSpc>
              <a:spcBef>
                <a:spcPts val="1375"/>
              </a:spcBef>
            </a:pPr>
            <a:endParaRPr lang="en-IN" sz="1200" i="1" spc="-10" dirty="0">
              <a:latin typeface="Times New Roman"/>
              <a:cs typeface="Times New Roman"/>
            </a:endParaRPr>
          </a:p>
          <a:p>
            <a:pPr marL="60325" marR="5080">
              <a:lnSpc>
                <a:spcPts val="1380"/>
              </a:lnSpc>
              <a:spcBef>
                <a:spcPts val="1375"/>
              </a:spcBef>
            </a:pPr>
            <a:endParaRPr lang="en-IN" sz="1200" i="1" spc="-10" dirty="0">
              <a:latin typeface="Times New Roman"/>
              <a:cs typeface="Times New Roman"/>
            </a:endParaRPr>
          </a:p>
          <a:p>
            <a:pPr marL="60325" marR="5080">
              <a:lnSpc>
                <a:spcPts val="1380"/>
              </a:lnSpc>
              <a:spcBef>
                <a:spcPts val="1375"/>
              </a:spcBef>
            </a:pPr>
            <a:endParaRPr lang="en-IN" sz="1200" i="1" spc="-10" dirty="0">
              <a:latin typeface="Times New Roman"/>
              <a:cs typeface="Times New Roman"/>
            </a:endParaRPr>
          </a:p>
          <a:p>
            <a:pPr marL="60325" marR="5080">
              <a:lnSpc>
                <a:spcPts val="1380"/>
              </a:lnSpc>
              <a:spcBef>
                <a:spcPts val="1375"/>
              </a:spcBef>
            </a:pPr>
            <a:endParaRPr sz="1200" dirty="0">
              <a:latin typeface="Times New Roman"/>
              <a:cs typeface="Times New Roman"/>
            </a:endParaRPr>
          </a:p>
          <a:p>
            <a:pPr>
              <a:lnSpc>
                <a:spcPct val="100000"/>
              </a:lnSpc>
            </a:pPr>
            <a:endParaRPr sz="1200" dirty="0">
              <a:latin typeface="Times New Roman"/>
              <a:cs typeface="Times New Roman"/>
            </a:endParaRPr>
          </a:p>
          <a:p>
            <a:pPr>
              <a:lnSpc>
                <a:spcPct val="100000"/>
              </a:lnSpc>
              <a:spcBef>
                <a:spcPts val="950"/>
              </a:spcBef>
            </a:pPr>
            <a:endParaRPr sz="1200" dirty="0">
              <a:latin typeface="Times New Roman"/>
              <a:cs typeface="Times New Roman"/>
            </a:endParaRPr>
          </a:p>
          <a:p>
            <a:pPr marL="278130" indent="-222250">
              <a:lnSpc>
                <a:spcPct val="100000"/>
              </a:lnSpc>
              <a:buSzPct val="91304"/>
              <a:buAutoNum type="arabicPeriod" startAt="7"/>
              <a:tabLst>
                <a:tab pos="278130" algn="l"/>
              </a:tabLst>
            </a:pPr>
            <a:r>
              <a:rPr sz="2300" b="1" dirty="0">
                <a:solidFill>
                  <a:srgbClr val="3B78D8"/>
                </a:solidFill>
                <a:latin typeface="Times New Roman"/>
                <a:cs typeface="Times New Roman"/>
              </a:rPr>
              <a:t>Learning</a:t>
            </a:r>
            <a:r>
              <a:rPr sz="2300" b="1" spc="-100" dirty="0">
                <a:solidFill>
                  <a:srgbClr val="3B78D8"/>
                </a:solidFill>
                <a:latin typeface="Times New Roman"/>
                <a:cs typeface="Times New Roman"/>
              </a:rPr>
              <a:t> </a:t>
            </a:r>
            <a:r>
              <a:rPr sz="2300" b="1" spc="-10" dirty="0">
                <a:solidFill>
                  <a:srgbClr val="3B78D8"/>
                </a:solidFill>
                <a:latin typeface="Times New Roman"/>
                <a:cs typeface="Times New Roman"/>
              </a:rPr>
              <a:t>Outcome:</a:t>
            </a:r>
            <a:endParaRPr sz="2300" dirty="0">
              <a:latin typeface="Times New Roman"/>
              <a:cs typeface="Times New Roman"/>
            </a:endParaRPr>
          </a:p>
          <a:p>
            <a:pPr marL="60325">
              <a:lnSpc>
                <a:spcPct val="100000"/>
              </a:lnSpc>
              <a:spcBef>
                <a:spcPts val="1335"/>
              </a:spcBef>
            </a:pPr>
            <a:r>
              <a:rPr lang="en-US" sz="1200" i="1" dirty="0">
                <a:latin typeface="Times New Roman"/>
                <a:cs typeface="Times New Roman"/>
              </a:rPr>
              <a:t>By completing this assignment, I gained practical knowledge of HTML structure, CSS styling techniques, and basic JavaScript functionality, as well as improved my understanding of form design, input validation, and creating user-friendly web interfaces.</a:t>
            </a:r>
          </a:p>
          <a:p>
            <a:pPr>
              <a:lnSpc>
                <a:spcPct val="100000"/>
              </a:lnSpc>
            </a:pPr>
            <a:endParaRPr sz="1200" dirty="0">
              <a:latin typeface="Times New Roman"/>
              <a:cs typeface="Times New Roman"/>
            </a:endParaRPr>
          </a:p>
          <a:p>
            <a:pPr>
              <a:lnSpc>
                <a:spcPct val="100000"/>
              </a:lnSpc>
              <a:spcBef>
                <a:spcPts val="1235"/>
              </a:spcBef>
            </a:pPr>
            <a:endParaRPr sz="1200" dirty="0">
              <a:latin typeface="Times New Roman"/>
              <a:cs typeface="Times New Roman"/>
            </a:endParaRPr>
          </a:p>
          <a:p>
            <a:pPr marL="331470" indent="-290830">
              <a:lnSpc>
                <a:spcPct val="100000"/>
              </a:lnSpc>
              <a:buAutoNum type="arabicPeriod" startAt="8"/>
              <a:tabLst>
                <a:tab pos="331470" algn="l"/>
              </a:tabLst>
            </a:pPr>
            <a:r>
              <a:rPr sz="2300" b="1" spc="-10" dirty="0">
                <a:solidFill>
                  <a:srgbClr val="3B78D8"/>
                </a:solidFill>
                <a:latin typeface="Times New Roman"/>
                <a:cs typeface="Times New Roman"/>
              </a:rPr>
              <a:t>Conclusion:</a:t>
            </a:r>
            <a:endParaRPr sz="2300" dirty="0">
              <a:latin typeface="Times New Roman"/>
              <a:cs typeface="Times New Roman"/>
            </a:endParaRPr>
          </a:p>
          <a:p>
            <a:pPr marL="60325">
              <a:lnSpc>
                <a:spcPct val="100000"/>
              </a:lnSpc>
              <a:spcBef>
                <a:spcPts val="1155"/>
              </a:spcBef>
            </a:pPr>
            <a:r>
              <a:rPr lang="en-US" sz="1200" i="1" dirty="0">
                <a:latin typeface="Times New Roman"/>
                <a:cs typeface="Times New Roman"/>
              </a:rPr>
              <a:t>In conclusion, the Event Registration Page was successfully developed using HTML, CSS, and JavaScript, providing a simple and user-friendly interface to collect participant details, manage event registrations, and display registered participants effectively.</a:t>
            </a:r>
          </a:p>
        </p:txBody>
      </p:sp>
      <p:sp>
        <p:nvSpPr>
          <p:cNvPr id="11" name="Rectangle 1">
            <a:extLst>
              <a:ext uri="{FF2B5EF4-FFF2-40B4-BE49-F238E27FC236}">
                <a16:creationId xmlns:a16="http://schemas.microsoft.com/office/drawing/2014/main" id="{DEA6DCF7-7CF3-D1A8-8B89-DFA44B18D698}"/>
              </a:ext>
            </a:extLst>
          </p:cNvPr>
          <p:cNvSpPr>
            <a:spLocks noChangeArrowheads="1"/>
          </p:cNvSpPr>
          <p:nvPr/>
        </p:nvSpPr>
        <p:spPr bwMode="auto">
          <a:xfrm>
            <a:off x="0" y="0"/>
            <a:ext cx="7569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The project was developed step-by-step by first creating the basic structure using HTML, then designing and styling the layout with CSS, adding form elements and a participants table, implementing basic validation and functionality using JavaScript, and finally testing the webpage to ensure proper working and user interaction.</a:t>
            </a:r>
          </a:p>
        </p:txBody>
      </p:sp>
      <p:pic>
        <p:nvPicPr>
          <p:cNvPr id="13" name="Picture 12">
            <a:extLst>
              <a:ext uri="{FF2B5EF4-FFF2-40B4-BE49-F238E27FC236}">
                <a16:creationId xmlns:a16="http://schemas.microsoft.com/office/drawing/2014/main" id="{ACD1DBA4-7E3E-B532-E5C6-1269F8A6FB7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993903" y="4625181"/>
            <a:ext cx="4326468" cy="243363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42</TotalTime>
  <Words>822</Words>
  <Application>Microsoft Office PowerPoint</Application>
  <PresentationFormat>Custom</PresentationFormat>
  <Paragraphs>97</Paragraphs>
  <Slides>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Times New Roman</vt:lpstr>
      <vt:lpstr>Office Theme</vt:lpstr>
      <vt:lpstr>FRONT-END DEVELOPMENT</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MUKESH TAGORE</cp:lastModifiedBy>
  <cp:revision>4</cp:revision>
  <dcterms:created xsi:type="dcterms:W3CDTF">2026-03-04T04:57:17Z</dcterms:created>
  <dcterms:modified xsi:type="dcterms:W3CDTF">2026-03-09T06:59:41Z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2026-03-04T00:00:00Z</vt:filetime>
  </property>
  <property fmtid="{D5CDD505-2E9C-101B-9397-08002B2CF9AE}" pid="3" name="Creator">
    <vt:lpwstr>www.smallpdf.com</vt:lpwstr>
  </property>
  <property fmtid="{D5CDD505-2E9C-101B-9397-08002B2CF9AE}" pid="4" name="LastSaved">
    <vt:filetime>2026-03-04T00:00:00Z</vt:filetime>
  </property>
  <property fmtid="{D5CDD505-2E9C-101B-9397-08002B2CF9AE}" pid="5" name="Producer">
    <vt:lpwstr>3-Heights(TM) PDF Security Shell 4.8.25.2 (http://www.pdf-tools.com)</vt:lpwstr>
  </property>
</Properties>
</file>